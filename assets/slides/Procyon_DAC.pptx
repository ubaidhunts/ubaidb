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8"/>
  </p:notesMasterIdLst>
  <p:sldIdLst>
    <p:sldId id="256" r:id="rId5"/>
    <p:sldId id="260" r:id="rId6"/>
    <p:sldId id="265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0" r:id="rId20"/>
    <p:sldId id="279" r:id="rId21"/>
    <p:sldId id="281" r:id="rId22"/>
    <p:sldId id="282" r:id="rId23"/>
    <p:sldId id="284" r:id="rId24"/>
    <p:sldId id="283" r:id="rId25"/>
    <p:sldId id="285" r:id="rId26"/>
    <p:sldId id="286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1" roundtripDataSignature="AMtx7mjsE9G6uR8KrU/AF2fTgae8awSL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2668"/>
    <a:srgbClr val="D5D6D8"/>
    <a:srgbClr val="BCBDC0"/>
    <a:srgbClr val="F3F3F4"/>
    <a:srgbClr val="0C8281"/>
    <a:srgbClr val="636879"/>
    <a:srgbClr val="FBD7E7"/>
    <a:srgbClr val="F377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7521C-FD1E-0947-AE5B-0BBB4C0791F8}" v="73" dt="2026-07-22T22:16:33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2"/>
    <p:restoredTop sz="86651"/>
  </p:normalViewPr>
  <p:slideViewPr>
    <p:cSldViewPr snapToGrid="0">
      <p:cViewPr varScale="1">
        <p:scale>
          <a:sx n="96" d="100"/>
          <a:sy n="96" d="100"/>
        </p:scale>
        <p:origin x="1280" y="168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umd0-my.sharepoint.com/personal/ubaidb_umd_edu/Documents/Project#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'Over Serpens'!$Z$23</c:f>
              <c:strCache>
                <c:ptCount val="1"/>
                <c:pt idx="0">
                  <c:v>PE-aware </c:v>
                </c:pt>
              </c:strCache>
            </c:strRef>
          </c:tx>
          <c:spPr>
            <a:ln w="34925" cap="rnd">
              <a:solidFill>
                <a:srgbClr val="FF5050"/>
              </a:solidFill>
              <a:round/>
            </a:ln>
            <a:effectLst>
              <a:softEdge rad="0"/>
            </a:effectLst>
          </c:spPr>
          <c:marker>
            <c:symbol val="circle"/>
            <c:size val="10"/>
            <c:spPr>
              <a:solidFill>
                <a:srgbClr val="FF0000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'Over Serpens'!$Y$24:$Y$59</c:f>
              <c:numCache>
                <c:formatCode>General</c:formatCode>
                <c:ptCount val="3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</c:numCache>
            </c:numRef>
          </c:cat>
          <c:val>
            <c:numRef>
              <c:f>'Over Serpens'!$Z$24:$Z$59</c:f>
              <c:numCache>
                <c:formatCode>General</c:formatCode>
                <c:ptCount val="36"/>
                <c:pt idx="0">
                  <c:v>16.829999999999998</c:v>
                </c:pt>
                <c:pt idx="1">
                  <c:v>20.440000000000001</c:v>
                </c:pt>
                <c:pt idx="2">
                  <c:v>20.94</c:v>
                </c:pt>
                <c:pt idx="3">
                  <c:v>26.84</c:v>
                </c:pt>
                <c:pt idx="4">
                  <c:v>27.66</c:v>
                </c:pt>
                <c:pt idx="5">
                  <c:v>28.42</c:v>
                </c:pt>
                <c:pt idx="6">
                  <c:v>28.78</c:v>
                </c:pt>
                <c:pt idx="7">
                  <c:v>34.909999999999997</c:v>
                </c:pt>
                <c:pt idx="8">
                  <c:v>35.03</c:v>
                </c:pt>
                <c:pt idx="9">
                  <c:v>35.200000000000003</c:v>
                </c:pt>
                <c:pt idx="10">
                  <c:v>37.81</c:v>
                </c:pt>
                <c:pt idx="11">
                  <c:v>47</c:v>
                </c:pt>
                <c:pt idx="12">
                  <c:v>48.17</c:v>
                </c:pt>
                <c:pt idx="13">
                  <c:v>49.29</c:v>
                </c:pt>
                <c:pt idx="14">
                  <c:v>51.4</c:v>
                </c:pt>
                <c:pt idx="15">
                  <c:v>52.92</c:v>
                </c:pt>
                <c:pt idx="16">
                  <c:v>54.53</c:v>
                </c:pt>
                <c:pt idx="17">
                  <c:v>54.85</c:v>
                </c:pt>
                <c:pt idx="18">
                  <c:v>56.95</c:v>
                </c:pt>
                <c:pt idx="19">
                  <c:v>59.66</c:v>
                </c:pt>
                <c:pt idx="20">
                  <c:v>60.47</c:v>
                </c:pt>
                <c:pt idx="21">
                  <c:v>64.569999999999993</c:v>
                </c:pt>
                <c:pt idx="22">
                  <c:v>64.8</c:v>
                </c:pt>
                <c:pt idx="23">
                  <c:v>66.67</c:v>
                </c:pt>
                <c:pt idx="24">
                  <c:v>67.11</c:v>
                </c:pt>
                <c:pt idx="25">
                  <c:v>68.290000000000006</c:v>
                </c:pt>
                <c:pt idx="26">
                  <c:v>73.13</c:v>
                </c:pt>
                <c:pt idx="27">
                  <c:v>73.3</c:v>
                </c:pt>
                <c:pt idx="28">
                  <c:v>84.04</c:v>
                </c:pt>
                <c:pt idx="29">
                  <c:v>84.15</c:v>
                </c:pt>
                <c:pt idx="30">
                  <c:v>85.67</c:v>
                </c:pt>
                <c:pt idx="31">
                  <c:v>88.37</c:v>
                </c:pt>
                <c:pt idx="32">
                  <c:v>90.8</c:v>
                </c:pt>
                <c:pt idx="33">
                  <c:v>91.3</c:v>
                </c:pt>
                <c:pt idx="34">
                  <c:v>91.58</c:v>
                </c:pt>
                <c:pt idx="35">
                  <c:v>94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C16-47EB-861E-60D93A36844A}"/>
            </c:ext>
          </c:extLst>
        </c:ser>
        <c:ser>
          <c:idx val="1"/>
          <c:order val="1"/>
          <c:tx>
            <c:strRef>
              <c:f>'Over Serpens'!$AA$23</c:f>
              <c:strCache>
                <c:ptCount val="1"/>
                <c:pt idx="0">
                  <c:v>CrHCS</c:v>
                </c:pt>
              </c:strCache>
            </c:strRef>
          </c:tx>
          <c:spPr>
            <a:ln w="34925" cap="rnd">
              <a:solidFill>
                <a:srgbClr val="D6A300"/>
              </a:solidFill>
              <a:round/>
            </a:ln>
            <a:effectLst/>
          </c:spPr>
          <c:marker>
            <c:symbol val="triangle"/>
            <c:size val="10"/>
            <c:spPr>
              <a:solidFill>
                <a:srgbClr val="FFC000"/>
              </a:solidFill>
              <a:ln w="9525">
                <a:solidFill>
                  <a:schemeClr val="tx1"/>
                </a:solidFill>
              </a:ln>
              <a:effectLst/>
            </c:spPr>
          </c:marker>
          <c:cat>
            <c:numRef>
              <c:f>'Over Serpens'!$Y$24:$Y$59</c:f>
              <c:numCache>
                <c:formatCode>General</c:formatCode>
                <c:ptCount val="3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</c:numCache>
            </c:numRef>
          </c:cat>
          <c:val>
            <c:numRef>
              <c:f>'Over Serpens'!$AA$24:$AA$59</c:f>
              <c:numCache>
                <c:formatCode>General</c:formatCode>
                <c:ptCount val="36"/>
                <c:pt idx="0">
                  <c:v>4.8600000000000003</c:v>
                </c:pt>
                <c:pt idx="1">
                  <c:v>8.09</c:v>
                </c:pt>
                <c:pt idx="2">
                  <c:v>8.1199999999999992</c:v>
                </c:pt>
                <c:pt idx="3">
                  <c:v>9.23</c:v>
                </c:pt>
                <c:pt idx="4">
                  <c:v>12.6</c:v>
                </c:pt>
                <c:pt idx="5">
                  <c:v>13.4</c:v>
                </c:pt>
                <c:pt idx="6">
                  <c:v>17.04</c:v>
                </c:pt>
                <c:pt idx="7">
                  <c:v>17.62</c:v>
                </c:pt>
                <c:pt idx="8">
                  <c:v>17.7</c:v>
                </c:pt>
                <c:pt idx="9">
                  <c:v>18.66</c:v>
                </c:pt>
                <c:pt idx="10">
                  <c:v>19.29</c:v>
                </c:pt>
                <c:pt idx="11">
                  <c:v>19.329999999999998</c:v>
                </c:pt>
                <c:pt idx="12">
                  <c:v>20.28</c:v>
                </c:pt>
                <c:pt idx="13">
                  <c:v>23.72</c:v>
                </c:pt>
                <c:pt idx="14">
                  <c:v>25.21</c:v>
                </c:pt>
                <c:pt idx="15">
                  <c:v>25.74</c:v>
                </c:pt>
                <c:pt idx="16">
                  <c:v>26.15</c:v>
                </c:pt>
                <c:pt idx="17">
                  <c:v>26.84</c:v>
                </c:pt>
                <c:pt idx="18">
                  <c:v>27.9</c:v>
                </c:pt>
                <c:pt idx="19">
                  <c:v>28.42</c:v>
                </c:pt>
                <c:pt idx="20">
                  <c:v>28.96</c:v>
                </c:pt>
                <c:pt idx="21">
                  <c:v>30.77</c:v>
                </c:pt>
                <c:pt idx="22">
                  <c:v>32.49</c:v>
                </c:pt>
                <c:pt idx="23">
                  <c:v>32.81</c:v>
                </c:pt>
                <c:pt idx="24">
                  <c:v>33.07</c:v>
                </c:pt>
                <c:pt idx="25">
                  <c:v>33.46</c:v>
                </c:pt>
                <c:pt idx="26">
                  <c:v>37.22</c:v>
                </c:pt>
                <c:pt idx="27">
                  <c:v>39.409999999999997</c:v>
                </c:pt>
                <c:pt idx="28">
                  <c:v>43.38</c:v>
                </c:pt>
                <c:pt idx="29">
                  <c:v>46.7</c:v>
                </c:pt>
                <c:pt idx="30">
                  <c:v>46.96</c:v>
                </c:pt>
                <c:pt idx="31">
                  <c:v>50.26</c:v>
                </c:pt>
                <c:pt idx="32">
                  <c:v>50.51</c:v>
                </c:pt>
                <c:pt idx="33">
                  <c:v>52.45</c:v>
                </c:pt>
                <c:pt idx="34">
                  <c:v>64.83</c:v>
                </c:pt>
                <c:pt idx="35">
                  <c:v>83.96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C16-47EB-861E-60D93A36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07980895"/>
        <c:axId val="1807982335"/>
      </c:lineChart>
      <c:catAx>
        <c:axId val="18079808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07982335"/>
        <c:crosses val="autoZero"/>
        <c:auto val="1"/>
        <c:lblAlgn val="ctr"/>
        <c:lblOffset val="100"/>
        <c:noMultiLvlLbl val="0"/>
      </c:catAx>
      <c:valAx>
        <c:axId val="1807982335"/>
        <c:scaling>
          <c:orientation val="minMax"/>
        </c:scaling>
        <c:delete val="0"/>
        <c:axPos val="l"/>
        <c:majorGridlines>
          <c:spPr>
            <a:ln w="1587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07980895"/>
        <c:crosses val="autoZero"/>
        <c:crossBetween val="between"/>
        <c:majorUnit val="20"/>
      </c:valAx>
      <c:spPr>
        <a:noFill/>
        <a:ln w="28575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10200648041733408"/>
          <c:y val="8.7446284979155492E-2"/>
          <c:w val="0.31337043590755459"/>
          <c:h val="0.15746971683878672"/>
        </c:manualLayout>
      </c:layout>
      <c:overlay val="1"/>
      <c:spPr>
        <a:solidFill>
          <a:schemeClr val="bg1"/>
        </a:solidFill>
        <a:ln w="19050"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baseline="0">
              <a:solidFill>
                <a:schemeClr val="tx1"/>
              </a:solidFill>
              <a:latin typeface="Univers Condensed" panose="020B050602020205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B95B9413-F56E-C12C-2B9F-230C2D009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962D50A9-A64D-79E5-EB44-A937A704A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2FC36D65-57D4-593C-4C18-11421F2F8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762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F2E230F4-6F89-004A-D01F-0E7F2E21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E0470240-823B-E393-60FD-E08DF9A7F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742B20B2-A64F-AF78-F23A-C03AA8F88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16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CB0C9C8F-C57B-1C38-CE7B-60396016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B3AF19E2-B379-2225-7831-DBE626120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E1C992D0-F0F1-13C2-D723-6B6F29E79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2972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C45ABE2C-518A-797B-A57A-30596C45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878FC083-92AA-B007-D2E9-73048DE68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6A89085A-CC28-42F6-74D8-D67EE68D9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54642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C53C5140-1AF7-1C3B-9E85-68617CB09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8B0B1904-2446-25B1-BB50-9E1B72C70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animation ? </a:t>
            </a: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F0CD6F24-7D60-53FA-317D-00CB0B1DF7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18197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96E23495-5AEB-EDA2-9C09-55A5A70AE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09000433-0C07-B747-DD49-315129B8A1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B17531E-85E6-9AE6-93A2-A83A25639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39607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0E972C0B-511C-040A-BF2C-54A242A9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3BFBD713-470A-430F-F3DD-A0456F8C6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AB162C3F-DDF3-4801-0D38-8F67A228E8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651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BE7232D-55CA-602E-8B3E-779B2F9B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BECA7867-A5FC-0D34-1B9A-C6E530AD78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0A985126-4916-2476-87EE-BA67551ABD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040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0ED5569F-7EB9-F8AB-CA71-91079F5F7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FA4E182D-3FDB-96FE-4B2A-550B19ED88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AC9055EA-4ADC-3CD3-4650-F1AE2CB752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28790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F732036A-8001-2159-00BE-072B9A5ED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7798CDE-71F3-5280-59F7-979992969E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FA22121F-A960-1143-86C5-7DC725ECA9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81778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35FDF432-703C-1912-1B3C-5F41E5B33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7786F01B-7574-2CCA-6DBC-71502FB17A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1218E07E-F60C-C40C-0AD9-8B0E9B00CD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148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22F7C33A-78EB-9873-8481-510920390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194140B9-576A-541B-2C38-8E2692A6C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89D3E3EE-2126-B3FA-6B00-D4ECA4333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14926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0CDEC3F0-5314-9DD0-D122-429BCA5D3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083C4A0D-8C64-4FE3-18D5-9491DE1860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A25A0172-5336-36FD-A634-405A22556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8634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1C6030F6-A4D8-F6B1-DD84-D4754B47C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7EC79417-1AFF-273F-F588-4672584956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EC54EB27-E8C1-9E82-B3AE-07CA49F4D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63960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C27EA9EE-8E84-D8D7-0AAD-E91AC574D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E25EA5E2-7EA5-BC7D-F145-7E0FC31AD6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E057EF53-1F35-D895-1B45-C3CC436C6E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905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B5280FB4-8B24-62E1-C050-3410805D9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A07C0C15-F075-C905-A6C2-135D34983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3BA2F65B-214F-2E69-1AD0-D28E10D986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80217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4F28D10C-4CB3-21DB-561F-F7CE232D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15F1258-5E7C-2E1B-7AA0-36FF4E260D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6EBEE8F3-2C63-A234-E540-43BE143C5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4129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90DE6A85-A33A-DEAD-4280-5AD5A69C0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94D39E05-549A-A192-D275-964BFCDB2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4663EB2C-548E-773D-B567-67BA4E79C5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81019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84DC2528-40E3-D46E-897E-ED40D6A1A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EE9CB19B-68D4-B87B-5699-45480E76E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15040FCB-4A2D-9D18-CD43-8A529BD4F7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1010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>
          <a:extLst>
            <a:ext uri="{FF2B5EF4-FFF2-40B4-BE49-F238E27FC236}">
              <a16:creationId xmlns:a16="http://schemas.microsoft.com/office/drawing/2014/main" id="{139E94FE-FC7C-A1AD-5BD1-5E6733D5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54407E8E-87FC-7F44-D823-8925FCE659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5:notes">
            <a:extLst>
              <a:ext uri="{FF2B5EF4-FFF2-40B4-BE49-F238E27FC236}">
                <a16:creationId xmlns:a16="http://schemas.microsoft.com/office/drawing/2014/main" id="{9E53E619-4D16-F134-1791-8B33E21AE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8593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FE155D37-BC2F-13BD-D5B4-6B9FFD5C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>
            <a:extLst>
              <a:ext uri="{FF2B5EF4-FFF2-40B4-BE49-F238E27FC236}">
                <a16:creationId xmlns:a16="http://schemas.microsoft.com/office/drawing/2014/main" id="{17ED0A26-58BD-6586-5DDB-DDEDCDA97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>
            <a:extLst>
              <a:ext uri="{FF2B5EF4-FFF2-40B4-BE49-F238E27FC236}">
                <a16:creationId xmlns:a16="http://schemas.microsoft.com/office/drawing/2014/main" id="{92299359-4B3C-E71A-193C-91CB5B6463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710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blue background with white text&#10;&#10;AI-generated content may be incorrect.">
            <a:extLst>
              <a:ext uri="{FF2B5EF4-FFF2-40B4-BE49-F238E27FC236}">
                <a16:creationId xmlns:a16="http://schemas.microsoft.com/office/drawing/2014/main" id="{635854C4-1B79-143B-867C-798EE630C7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Google Shape;17;p11"/>
          <p:cNvSpPr txBox="1">
            <a:spLocks noGrp="1"/>
          </p:cNvSpPr>
          <p:nvPr>
            <p:ph type="ctrTitle"/>
          </p:nvPr>
        </p:nvSpPr>
        <p:spPr>
          <a:xfrm>
            <a:off x="1524000" y="175347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11"/>
          <p:cNvSpPr txBox="1">
            <a:spLocks noGrp="1"/>
          </p:cNvSpPr>
          <p:nvPr>
            <p:ph type="subTitle" idx="1"/>
          </p:nvPr>
        </p:nvSpPr>
        <p:spPr>
          <a:xfrm>
            <a:off x="1524000" y="423314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and yellow background with white text&#10;&#10;AI-generated content may be incorrect.">
            <a:extLst>
              <a:ext uri="{FF2B5EF4-FFF2-40B4-BE49-F238E27FC236}">
                <a16:creationId xmlns:a16="http://schemas.microsoft.com/office/drawing/2014/main" id="{661E4BD8-1B4F-1C88-5AC5-FDE6B1E8CA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Google Shape;23;p12"/>
          <p:cNvSpPr txBox="1">
            <a:spLocks noGrp="1"/>
          </p:cNvSpPr>
          <p:nvPr>
            <p:ph type="title"/>
          </p:nvPr>
        </p:nvSpPr>
        <p:spPr>
          <a:xfrm>
            <a:off x="431158" y="3004442"/>
            <a:ext cx="5866901" cy="2328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 txBox="1">
            <a:spLocks noGrp="1"/>
          </p:cNvSpPr>
          <p:nvPr>
            <p:ph type="title"/>
          </p:nvPr>
        </p:nvSpPr>
        <p:spPr>
          <a:xfrm>
            <a:off x="1924050" y="208755"/>
            <a:ext cx="98727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98266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>
            <a:spLocks noGrp="1"/>
          </p:cNvSpPr>
          <p:nvPr>
            <p:ph type="title"/>
          </p:nvPr>
        </p:nvSpPr>
        <p:spPr>
          <a:xfrm>
            <a:off x="1838325" y="136525"/>
            <a:ext cx="999048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1" name="Google Shape;81;p20"/>
          <p:cNvSpPr txBox="1">
            <a:spLocks noGrp="1"/>
          </p:cNvSpPr>
          <p:nvPr>
            <p:ph type="body" idx="1"/>
          </p:nvPr>
        </p:nvSpPr>
        <p:spPr>
          <a:xfrm>
            <a:off x="463463" y="2104373"/>
            <a:ext cx="11365350" cy="3544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hexagons&#10;&#10;AI-generated content may be incorrect.">
            <a:extLst>
              <a:ext uri="{FF2B5EF4-FFF2-40B4-BE49-F238E27FC236}">
                <a16:creationId xmlns:a16="http://schemas.microsoft.com/office/drawing/2014/main" id="{5BB223B4-E416-EDCB-C3F5-17942C88963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Google Shape;10;p10"/>
          <p:cNvSpPr txBox="1">
            <a:spLocks noGrp="1"/>
          </p:cNvSpPr>
          <p:nvPr>
            <p:ph type="body" idx="1"/>
          </p:nvPr>
        </p:nvSpPr>
        <p:spPr>
          <a:xfrm>
            <a:off x="1857374" y="1825625"/>
            <a:ext cx="94964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1857374" y="365125"/>
            <a:ext cx="94964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982668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ubaidb@umd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6.png"/><Relationship Id="rId4" Type="http://schemas.openxmlformats.org/officeDocument/2006/relationships/image" Target="../media/image1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561975" y="2342163"/>
            <a:ext cx="11068050" cy="108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chemeClr val="dk1"/>
              </a:buClr>
              <a:buSzPts val="4400"/>
            </a:pPr>
            <a:r>
              <a:rPr lang="en-US" sz="4400" dirty="0">
                <a:solidFill>
                  <a:schemeClr val="bg1"/>
                </a:solidFill>
                <a:latin typeface="Univers Condensed" panose="020B0506020202050204" pitchFamily="34" charset="0"/>
              </a:rPr>
              <a:t>Procyon: Promoting Fine-Grain Multi-Tenancy to Optimize Sparse Streaming Accelerators</a:t>
            </a:r>
            <a:endParaRPr sz="4400" dirty="0">
              <a:solidFill>
                <a:schemeClr val="bg1"/>
              </a:solidFill>
              <a:latin typeface="Univers Condensed" panose="020B0506020202050204" pitchFamily="34" charset="0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3706212"/>
            <a:ext cx="9144000" cy="1507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b="1" dirty="0">
                <a:latin typeface="Univers Condensed" panose="020B0506020202050204" pitchFamily="34" charset="0"/>
              </a:rPr>
              <a:t>Ubaid Bakhtiar</a:t>
            </a:r>
            <a:r>
              <a:rPr lang="en-US" dirty="0">
                <a:latin typeface="Univers Condensed" panose="020B0506020202050204" pitchFamily="34" charset="0"/>
              </a:rPr>
              <a:t>, Jeremy Sha, Helya Hosseini, Bahar Asgari 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Univers Condensed" panose="020B0506020202050204" pitchFamily="34" charset="0"/>
              </a:rPr>
              <a:t>Corresponding author: </a:t>
            </a:r>
            <a:r>
              <a:rPr lang="en-US" dirty="0">
                <a:latin typeface="Univers Condensed" panose="020B0506020202050204" pitchFamily="34" charset="0"/>
                <a:hlinkClick r:id="rId3"/>
              </a:rPr>
              <a:t>ubaidb@umd.edu</a:t>
            </a:r>
            <a:endParaRPr lang="en-US" dirty="0">
              <a:latin typeface="Univers Condensed" panose="020B0506020202050204" pitchFamily="34" charset="0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Univers Condensed" panose="020B0506020202050204" pitchFamily="34" charset="0"/>
              </a:rPr>
              <a:t>University of Maryland, College Park</a:t>
            </a:r>
            <a:endParaRPr dirty="0">
              <a:latin typeface="Univers Condensed" panose="020B050602020205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SzPts val="4400"/>
            </a:pPr>
            <a:r>
              <a:rPr lang="en-US" dirty="0">
                <a:latin typeface="Univers Condensed" panose="020B0506020202050204" pitchFamily="34" charset="0"/>
              </a:rPr>
              <a:t>Existence of Sparsity</a:t>
            </a:r>
            <a:endParaRPr dirty="0">
              <a:latin typeface="Univers Condensed" panose="020B0506020202050204" pitchFamily="34" charset="0"/>
            </a:endParaRPr>
          </a:p>
        </p:txBody>
      </p:sp>
      <p:pic>
        <p:nvPicPr>
          <p:cNvPr id="16" name="Picture 2" descr="Optimization Picture">
            <a:extLst>
              <a:ext uri="{FF2B5EF4-FFF2-40B4-BE49-F238E27FC236}">
                <a16:creationId xmlns:a16="http://schemas.microsoft.com/office/drawing/2014/main" id="{5A767052-E3A6-8A21-5588-0650214216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3" t="7213" r="8304"/>
          <a:stretch/>
        </p:blipFill>
        <p:spPr bwMode="auto">
          <a:xfrm>
            <a:off x="829092" y="1686397"/>
            <a:ext cx="2371724" cy="204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utoShape 6" descr="Use LobeChat UI for Llama3 on Groq · LobeHub">
            <a:extLst>
              <a:ext uri="{FF2B5EF4-FFF2-40B4-BE49-F238E27FC236}">
                <a16:creationId xmlns:a16="http://schemas.microsoft.com/office/drawing/2014/main" id="{F80F07F7-A684-E1A8-7950-5A6DACB119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9179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4" descr="ChatGPT - Wikipedia">
            <a:extLst>
              <a:ext uri="{FF2B5EF4-FFF2-40B4-BE49-F238E27FC236}">
                <a16:creationId xmlns:a16="http://schemas.microsoft.com/office/drawing/2014/main" id="{F715CB81-CD42-6195-3FDC-502A2D901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899" y="2334105"/>
            <a:ext cx="862101" cy="862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2" descr="Netflix">
            <a:extLst>
              <a:ext uri="{FF2B5EF4-FFF2-40B4-BE49-F238E27FC236}">
                <a16:creationId xmlns:a16="http://schemas.microsoft.com/office/drawing/2014/main" id="{80544AAE-8338-24E3-66C1-1F64E5636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349" y="2165896"/>
            <a:ext cx="1198521" cy="119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8" descr="Amazon.com - Black: Tesla Logo Sticker (Vinyl Decal Insignia Elon Musk  Design for Electric Cars, Trucks, Laptop (4 inch)">
            <a:extLst>
              <a:ext uri="{FF2B5EF4-FFF2-40B4-BE49-F238E27FC236}">
                <a16:creationId xmlns:a16="http://schemas.microsoft.com/office/drawing/2014/main" id="{6AEB47EF-CF88-1A6F-695D-5AC053E59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755" y="4260518"/>
            <a:ext cx="2271692" cy="170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0" descr="Nokia Bell Labs | CSAIL Alliances">
            <a:extLst>
              <a:ext uri="{FF2B5EF4-FFF2-40B4-BE49-F238E27FC236}">
                <a16:creationId xmlns:a16="http://schemas.microsoft.com/office/drawing/2014/main" id="{371F292A-BABC-3AE4-185C-A2AA9FB26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755" y="4552336"/>
            <a:ext cx="2514929" cy="1198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5D8CDCCA-E2DC-711C-A03C-28DF51C663EE}"/>
              </a:ext>
            </a:extLst>
          </p:cNvPr>
          <p:cNvSpPr txBox="1"/>
          <p:nvPr/>
        </p:nvSpPr>
        <p:spPr>
          <a:xfrm>
            <a:off x="916990" y="3658974"/>
            <a:ext cx="2378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US" sz="2000" b="1" dirty="0">
                <a:latin typeface="Univers Condensed" panose="020B0506020202050204" pitchFamily="34" charset="0"/>
              </a:rPr>
              <a:t>Scientific Computing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0D6DD5-D290-F70D-96B8-47496C5D9A38}"/>
              </a:ext>
            </a:extLst>
          </p:cNvPr>
          <p:cNvSpPr txBox="1"/>
          <p:nvPr/>
        </p:nvSpPr>
        <p:spPr>
          <a:xfrm>
            <a:off x="4944606" y="3621738"/>
            <a:ext cx="2819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b="1" dirty="0">
                <a:latin typeface="Univers Condensed" panose="020B0506020202050204" pitchFamily="34" charset="0"/>
              </a:rPr>
              <a:t>Large Language Models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D2F6E76-E7FB-27D5-B573-7E9D85A904FD}"/>
              </a:ext>
            </a:extLst>
          </p:cNvPr>
          <p:cNvSpPr txBox="1"/>
          <p:nvPr/>
        </p:nvSpPr>
        <p:spPr>
          <a:xfrm>
            <a:off x="8621812" y="3618506"/>
            <a:ext cx="3048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b="1" dirty="0">
                <a:latin typeface="Univers Condensed" panose="020B0506020202050204" pitchFamily="34" charset="0"/>
              </a:rPr>
              <a:t>Recommendation Systems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5392C8-95F8-2030-219B-7C55DEDE096F}"/>
              </a:ext>
            </a:extLst>
          </p:cNvPr>
          <p:cNvSpPr txBox="1"/>
          <p:nvPr/>
        </p:nvSpPr>
        <p:spPr>
          <a:xfrm>
            <a:off x="2871758" y="5979335"/>
            <a:ext cx="2072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b="1" dirty="0">
                <a:latin typeface="Univers Condensed" panose="020B0506020202050204" pitchFamily="34" charset="0"/>
              </a:rPr>
              <a:t>Computer Vision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94794-7FD7-DABF-106E-91914DCF1C3D}"/>
              </a:ext>
            </a:extLst>
          </p:cNvPr>
          <p:cNvSpPr txBox="1"/>
          <p:nvPr/>
        </p:nvSpPr>
        <p:spPr>
          <a:xfrm>
            <a:off x="7364347" y="5973076"/>
            <a:ext cx="25149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400"/>
            </a:pPr>
            <a:r>
              <a:rPr lang="en-US" sz="2000" b="1" dirty="0">
                <a:latin typeface="Univers Condensed" panose="020B0506020202050204" pitchFamily="34" charset="0"/>
              </a:rPr>
              <a:t>Speech Processing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AC88C68-E3CD-7A59-557A-0E1BFA458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86500" y="2165896"/>
            <a:ext cx="1198521" cy="1198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9B144CA-E784-B9C9-6557-DCFC0E4794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8870" y="2165896"/>
            <a:ext cx="1197864" cy="1197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7F5E65-C682-FED6-A3DB-FE107EFDCF70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2BE52B1-9C42-8C0B-85DE-AF09686A8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54F4341-1998-FBBB-DF02-D2959EFEA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03621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Streaming Accelerators	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8CDB22-71A0-533D-8918-426AEB1DB850}"/>
              </a:ext>
            </a:extLst>
          </p:cNvPr>
          <p:cNvSpPr txBox="1"/>
          <p:nvPr/>
        </p:nvSpPr>
        <p:spPr>
          <a:xfrm>
            <a:off x="584200" y="1782721"/>
            <a:ext cx="1130950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Data-driven execution model of streaming accelerators</a:t>
            </a:r>
          </a:p>
          <a:p>
            <a:endParaRPr lang="en-US" sz="2400" dirty="0">
              <a:latin typeface="Univers Condensed" panose="020B050602020205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Maximize the data transfer as well as computational throughput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Univers Condensed" panose="020B050602020205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Schedule the data for a compute engine in the corresponding memory channel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371AF2D-38CB-09ED-FF98-36B33BA2D2A7}"/>
              </a:ext>
            </a:extLst>
          </p:cNvPr>
          <p:cNvGrpSpPr/>
          <p:nvPr/>
        </p:nvGrpSpPr>
        <p:grpSpPr>
          <a:xfrm>
            <a:off x="2121842" y="3989085"/>
            <a:ext cx="8240278" cy="2631943"/>
            <a:chOff x="2071042" y="3292281"/>
            <a:chExt cx="8240278" cy="2631943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05D2C16-13EE-25AB-4AF0-E0372AA47686}"/>
                </a:ext>
              </a:extLst>
            </p:cNvPr>
            <p:cNvSpPr/>
            <p:nvPr/>
          </p:nvSpPr>
          <p:spPr>
            <a:xfrm>
              <a:off x="2236615" y="3690404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30A299CB-EEB8-38B3-561A-DA8999AFF6A5}"/>
                </a:ext>
              </a:extLst>
            </p:cNvPr>
            <p:cNvSpPr txBox="1"/>
            <p:nvPr/>
          </p:nvSpPr>
          <p:spPr>
            <a:xfrm>
              <a:off x="2236617" y="3690404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4C7A727-E829-7684-E43C-951EF647A441}"/>
                </a:ext>
              </a:extLst>
            </p:cNvPr>
            <p:cNvSpPr/>
            <p:nvPr/>
          </p:nvSpPr>
          <p:spPr>
            <a:xfrm>
              <a:off x="2236615" y="4256583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9B210EC-357D-B983-30B8-D1143D23324A}"/>
                </a:ext>
              </a:extLst>
            </p:cNvPr>
            <p:cNvSpPr txBox="1"/>
            <p:nvPr/>
          </p:nvSpPr>
          <p:spPr>
            <a:xfrm>
              <a:off x="2236617" y="4256583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1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57423AC-F8C5-620E-18B4-B5602B6B1C25}"/>
                </a:ext>
              </a:extLst>
            </p:cNvPr>
            <p:cNvSpPr/>
            <p:nvPr/>
          </p:nvSpPr>
          <p:spPr>
            <a:xfrm>
              <a:off x="2236615" y="4822762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5B20D0D-3B01-0B1E-43A7-7B25F5E57470}"/>
                </a:ext>
              </a:extLst>
            </p:cNvPr>
            <p:cNvSpPr txBox="1"/>
            <p:nvPr/>
          </p:nvSpPr>
          <p:spPr>
            <a:xfrm>
              <a:off x="2236617" y="4822762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2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BC50A8B-683D-5EC2-6187-F5587F2E8F86}"/>
                </a:ext>
              </a:extLst>
            </p:cNvPr>
            <p:cNvSpPr/>
            <p:nvPr/>
          </p:nvSpPr>
          <p:spPr>
            <a:xfrm>
              <a:off x="2236615" y="5388941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6207541-1D4C-00C2-39BE-98947C403663}"/>
                </a:ext>
              </a:extLst>
            </p:cNvPr>
            <p:cNvSpPr txBox="1"/>
            <p:nvPr/>
          </p:nvSpPr>
          <p:spPr>
            <a:xfrm>
              <a:off x="2236617" y="5388941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4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F784A408-4A11-7B27-81DD-78194237BC77}"/>
                </a:ext>
              </a:extLst>
            </p:cNvPr>
            <p:cNvCxnSpPr/>
            <p:nvPr/>
          </p:nvCxnSpPr>
          <p:spPr>
            <a:xfrm>
              <a:off x="4302691" y="3875070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C88C8170-9C49-99E7-ED2C-437D202F1B42}"/>
                </a:ext>
              </a:extLst>
            </p:cNvPr>
            <p:cNvCxnSpPr/>
            <p:nvPr/>
          </p:nvCxnSpPr>
          <p:spPr>
            <a:xfrm>
              <a:off x="4302691" y="4408984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C6C7B8D4-4572-B174-24D3-E7F43BBD3AAD}"/>
                </a:ext>
              </a:extLst>
            </p:cNvPr>
            <p:cNvCxnSpPr/>
            <p:nvPr/>
          </p:nvCxnSpPr>
          <p:spPr>
            <a:xfrm>
              <a:off x="4302691" y="5007428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A7D1B59-2E3A-D476-4B13-A00DBFA8A147}"/>
                </a:ext>
              </a:extLst>
            </p:cNvPr>
            <p:cNvCxnSpPr/>
            <p:nvPr/>
          </p:nvCxnSpPr>
          <p:spPr>
            <a:xfrm>
              <a:off x="4308335" y="5589967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70" name="Cube 69">
              <a:extLst>
                <a:ext uri="{FF2B5EF4-FFF2-40B4-BE49-F238E27FC236}">
                  <a16:creationId xmlns:a16="http://schemas.microsoft.com/office/drawing/2014/main" id="{3F649717-E7AF-B58B-457A-2A2A995DE95E}"/>
                </a:ext>
              </a:extLst>
            </p:cNvPr>
            <p:cNvSpPr/>
            <p:nvPr/>
          </p:nvSpPr>
          <p:spPr>
            <a:xfrm>
              <a:off x="5174733" y="3611853"/>
              <a:ext cx="2054578" cy="448353"/>
            </a:xfrm>
            <a:prstGeom prst="cube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C98AA37-3549-370F-5954-57640F44D251}"/>
                </a:ext>
              </a:extLst>
            </p:cNvPr>
            <p:cNvSpPr txBox="1"/>
            <p:nvPr/>
          </p:nvSpPr>
          <p:spPr>
            <a:xfrm>
              <a:off x="5211453" y="3705027"/>
              <a:ext cx="2156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Compute Engine 0</a:t>
              </a:r>
            </a:p>
          </p:txBody>
        </p:sp>
        <p:sp>
          <p:nvSpPr>
            <p:cNvPr id="72" name="Cube 71">
              <a:extLst>
                <a:ext uri="{FF2B5EF4-FFF2-40B4-BE49-F238E27FC236}">
                  <a16:creationId xmlns:a16="http://schemas.microsoft.com/office/drawing/2014/main" id="{1250C737-1E08-B2E4-D514-D9713596605F}"/>
                </a:ext>
              </a:extLst>
            </p:cNvPr>
            <p:cNvSpPr/>
            <p:nvPr/>
          </p:nvSpPr>
          <p:spPr>
            <a:xfrm>
              <a:off x="5157793" y="4147354"/>
              <a:ext cx="2054578" cy="448353"/>
            </a:xfrm>
            <a:prstGeom prst="cube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D97A1E0-9BC2-7C49-149D-47946DE23CAF}"/>
                </a:ext>
              </a:extLst>
            </p:cNvPr>
            <p:cNvSpPr txBox="1"/>
            <p:nvPr/>
          </p:nvSpPr>
          <p:spPr>
            <a:xfrm>
              <a:off x="5194513" y="4240223"/>
              <a:ext cx="2156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Compute Engine 1</a:t>
              </a:r>
            </a:p>
          </p:txBody>
        </p:sp>
        <p:sp>
          <p:nvSpPr>
            <p:cNvPr id="74" name="Cube 73">
              <a:extLst>
                <a:ext uri="{FF2B5EF4-FFF2-40B4-BE49-F238E27FC236}">
                  <a16:creationId xmlns:a16="http://schemas.microsoft.com/office/drawing/2014/main" id="{05D52A26-B8F9-1638-B3B4-2C37C0F227EA}"/>
                </a:ext>
              </a:extLst>
            </p:cNvPr>
            <p:cNvSpPr/>
            <p:nvPr/>
          </p:nvSpPr>
          <p:spPr>
            <a:xfrm>
              <a:off x="5157793" y="4729893"/>
              <a:ext cx="2054578" cy="448353"/>
            </a:xfrm>
            <a:prstGeom prst="cube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971AF10-85DB-395C-2204-F3894EC1C823}"/>
                </a:ext>
              </a:extLst>
            </p:cNvPr>
            <p:cNvSpPr txBox="1"/>
            <p:nvPr/>
          </p:nvSpPr>
          <p:spPr>
            <a:xfrm>
              <a:off x="5194513" y="4822762"/>
              <a:ext cx="2156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Compute Engine 2</a:t>
              </a:r>
            </a:p>
          </p:txBody>
        </p:sp>
        <p:sp>
          <p:nvSpPr>
            <p:cNvPr id="76" name="Cube 75">
              <a:extLst>
                <a:ext uri="{FF2B5EF4-FFF2-40B4-BE49-F238E27FC236}">
                  <a16:creationId xmlns:a16="http://schemas.microsoft.com/office/drawing/2014/main" id="{45D92EEE-2309-F477-155D-2EAF9BE8B7CB}"/>
                </a:ext>
              </a:extLst>
            </p:cNvPr>
            <p:cNvSpPr/>
            <p:nvPr/>
          </p:nvSpPr>
          <p:spPr>
            <a:xfrm>
              <a:off x="5157793" y="5312432"/>
              <a:ext cx="2054578" cy="448353"/>
            </a:xfrm>
            <a:prstGeom prst="cube">
              <a:avLst/>
            </a:prstGeom>
            <a:solidFill>
              <a:srgbClr val="196B24">
                <a:lumMod val="20000"/>
                <a:lumOff val="80000"/>
              </a:srgbClr>
            </a:solidFill>
            <a:ln w="190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A64676E-26A5-ECBF-2588-3D914393EAC0}"/>
                </a:ext>
              </a:extLst>
            </p:cNvPr>
            <p:cNvSpPr txBox="1"/>
            <p:nvPr/>
          </p:nvSpPr>
          <p:spPr>
            <a:xfrm>
              <a:off x="5194513" y="5405301"/>
              <a:ext cx="2156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Compute Engine 3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1D56E22C-3BEF-0041-47E2-610521003B38}"/>
                </a:ext>
              </a:extLst>
            </p:cNvPr>
            <p:cNvSpPr/>
            <p:nvPr/>
          </p:nvSpPr>
          <p:spPr>
            <a:xfrm>
              <a:off x="8448445" y="3686935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DD0CD65-1449-2959-5509-A3ADE02491EF}"/>
                </a:ext>
              </a:extLst>
            </p:cNvPr>
            <p:cNvSpPr txBox="1"/>
            <p:nvPr/>
          </p:nvSpPr>
          <p:spPr>
            <a:xfrm>
              <a:off x="8448447" y="3686935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5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D515E48-D818-DCD1-04EE-0EA7F9686FE2}"/>
                </a:ext>
              </a:extLst>
            </p:cNvPr>
            <p:cNvSpPr/>
            <p:nvPr/>
          </p:nvSpPr>
          <p:spPr>
            <a:xfrm>
              <a:off x="8448445" y="4253114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6221509-A5FC-8A3B-44F5-E1ADF5630F13}"/>
                </a:ext>
              </a:extLst>
            </p:cNvPr>
            <p:cNvSpPr txBox="1"/>
            <p:nvPr/>
          </p:nvSpPr>
          <p:spPr>
            <a:xfrm>
              <a:off x="8448447" y="4253114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6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516E047-B078-8F15-BB85-B3A67E94CA1E}"/>
                </a:ext>
              </a:extLst>
            </p:cNvPr>
            <p:cNvSpPr/>
            <p:nvPr/>
          </p:nvSpPr>
          <p:spPr>
            <a:xfrm>
              <a:off x="8448445" y="4819293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785A662C-4B02-17B2-4E93-B2F2F347D912}"/>
                </a:ext>
              </a:extLst>
            </p:cNvPr>
            <p:cNvSpPr txBox="1"/>
            <p:nvPr/>
          </p:nvSpPr>
          <p:spPr>
            <a:xfrm>
              <a:off x="8448447" y="4819293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7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45F3DA8A-CED2-E933-B084-3BABE29E7A1B}"/>
                </a:ext>
              </a:extLst>
            </p:cNvPr>
            <p:cNvSpPr/>
            <p:nvPr/>
          </p:nvSpPr>
          <p:spPr>
            <a:xfrm>
              <a:off x="8448445" y="5385472"/>
              <a:ext cx="1670755" cy="369332"/>
            </a:xfrm>
            <a:prstGeom prst="rect">
              <a:avLst/>
            </a:prstGeom>
            <a:solidFill>
              <a:srgbClr val="156082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5B66A08-E2D9-6F13-7B8C-CB66418752B8}"/>
                </a:ext>
              </a:extLst>
            </p:cNvPr>
            <p:cNvSpPr txBox="1"/>
            <p:nvPr/>
          </p:nvSpPr>
          <p:spPr>
            <a:xfrm>
              <a:off x="8448447" y="5385472"/>
              <a:ext cx="16707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HBM Channel 8</a:t>
              </a:r>
            </a:p>
          </p:txBody>
        </p: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05571CEA-0989-44A8-3EFF-21C06F6FC5AE}"/>
                </a:ext>
              </a:extLst>
            </p:cNvPr>
            <p:cNvCxnSpPr/>
            <p:nvPr/>
          </p:nvCxnSpPr>
          <p:spPr>
            <a:xfrm>
              <a:off x="7638187" y="3853080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0F8D127-3CAD-553B-7CF3-A59212AE2243}"/>
                </a:ext>
              </a:extLst>
            </p:cNvPr>
            <p:cNvCxnSpPr/>
            <p:nvPr/>
          </p:nvCxnSpPr>
          <p:spPr>
            <a:xfrm>
              <a:off x="7638187" y="4386994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E4259A97-D390-7250-2250-21F58BAD0E13}"/>
                </a:ext>
              </a:extLst>
            </p:cNvPr>
            <p:cNvCxnSpPr/>
            <p:nvPr/>
          </p:nvCxnSpPr>
          <p:spPr>
            <a:xfrm>
              <a:off x="7638187" y="4985438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4DE6873C-65BE-8D54-75B6-848F668D88A4}"/>
                </a:ext>
              </a:extLst>
            </p:cNvPr>
            <p:cNvCxnSpPr/>
            <p:nvPr/>
          </p:nvCxnSpPr>
          <p:spPr>
            <a:xfrm>
              <a:off x="7643831" y="5567977"/>
              <a:ext cx="406400" cy="0"/>
            </a:xfrm>
            <a:prstGeom prst="straightConnector1">
              <a:avLst/>
            </a:pr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0" name="Rounded Rectangle 57">
              <a:extLst>
                <a:ext uri="{FF2B5EF4-FFF2-40B4-BE49-F238E27FC236}">
                  <a16:creationId xmlns:a16="http://schemas.microsoft.com/office/drawing/2014/main" id="{E1537810-2158-C724-6BA0-43CC259CBE53}"/>
                </a:ext>
              </a:extLst>
            </p:cNvPr>
            <p:cNvSpPr/>
            <p:nvPr/>
          </p:nvSpPr>
          <p:spPr>
            <a:xfrm>
              <a:off x="2071042" y="3320668"/>
              <a:ext cx="2009080" cy="2603556"/>
            </a:xfrm>
            <a:prstGeom prst="roundRect">
              <a:avLst/>
            </a:prstGeom>
            <a:noFill/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Rounded Rectangle 59">
              <a:extLst>
                <a:ext uri="{FF2B5EF4-FFF2-40B4-BE49-F238E27FC236}">
                  <a16:creationId xmlns:a16="http://schemas.microsoft.com/office/drawing/2014/main" id="{094872E7-91B5-0B22-4745-02529A143342}"/>
                </a:ext>
              </a:extLst>
            </p:cNvPr>
            <p:cNvSpPr/>
            <p:nvPr/>
          </p:nvSpPr>
          <p:spPr>
            <a:xfrm>
              <a:off x="8256742" y="3320668"/>
              <a:ext cx="2054578" cy="2603556"/>
            </a:xfrm>
            <a:prstGeom prst="roundRect">
              <a:avLst/>
            </a:prstGeom>
            <a:noFill/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E167BD0-F670-62FA-DCD5-35A6AF2DA98E}"/>
                </a:ext>
              </a:extLst>
            </p:cNvPr>
            <p:cNvSpPr txBox="1"/>
            <p:nvPr/>
          </p:nvSpPr>
          <p:spPr>
            <a:xfrm>
              <a:off x="2718480" y="3317337"/>
              <a:ext cx="707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Input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07CE62CF-950C-004D-645B-6E71083335BB}"/>
                </a:ext>
              </a:extLst>
            </p:cNvPr>
            <p:cNvSpPr txBox="1"/>
            <p:nvPr/>
          </p:nvSpPr>
          <p:spPr>
            <a:xfrm>
              <a:off x="8819084" y="3292281"/>
              <a:ext cx="884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Tx/>
                <a:buFontTx/>
                <a:buNone/>
              </a:pPr>
              <a:r>
                <a:rPr lang="en-US" sz="1800" b="1" kern="120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+mn-cs"/>
                </a:rPr>
                <a:t>Output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4FFCFA-6945-AC09-D85F-74819E4489EE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923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71FA4B9-985E-62D2-429F-1ED4A51A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7F4FBB59-E629-837B-79C6-AC75F03A3D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4725042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/>
            <a:r>
              <a:rPr lang="en-US" sz="4800" dirty="0">
                <a:latin typeface="Univers Condensed" panose="020B0506020202050204" pitchFamily="34" charset="0"/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212571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BDF92B83-EBCB-80A4-96F3-0DC7A372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6;p5">
            <a:extLst>
              <a:ext uri="{FF2B5EF4-FFF2-40B4-BE49-F238E27FC236}">
                <a16:creationId xmlns:a16="http://schemas.microsoft.com/office/drawing/2014/main" id="{E8A756C7-0516-A667-6E53-62B40F6967A0}"/>
              </a:ext>
            </a:extLst>
          </p:cNvPr>
          <p:cNvSpPr txBox="1">
            <a:spLocks/>
          </p:cNvSpPr>
          <p:nvPr/>
        </p:nvSpPr>
        <p:spPr>
          <a:xfrm>
            <a:off x="268614" y="1205551"/>
            <a:ext cx="620163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1" i="0" u="none" strike="noStrike" cap="none">
                <a:solidFill>
                  <a:srgbClr val="98266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Univers Condensed" panose="020B0506020202050204" pitchFamily="34" charset="0"/>
              </a:rPr>
              <a:t>1. PE-aware Non-zero Scheduling</a:t>
            </a: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837B85A1-EC8A-43FC-86A8-19BD5BD18F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Poor Data Scheduling</a:t>
            </a:r>
          </a:p>
        </p:txBody>
      </p:sp>
      <p:pic>
        <p:nvPicPr>
          <p:cNvPr id="2" name="Picture 1" descr="A red numbers on a black background&#10;&#10;AI-generated content may be incorrect.">
            <a:extLst>
              <a:ext uri="{FF2B5EF4-FFF2-40B4-BE49-F238E27FC236}">
                <a16:creationId xmlns:a16="http://schemas.microsoft.com/office/drawing/2014/main" id="{E1278699-2DD7-169C-3AEE-7D903B979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24" y="2258963"/>
            <a:ext cx="3746500" cy="40005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F232F4D-BEB0-1253-AF5E-0FCD12AAC8A1}"/>
              </a:ext>
            </a:extLst>
          </p:cNvPr>
          <p:cNvGrpSpPr/>
          <p:nvPr/>
        </p:nvGrpSpPr>
        <p:grpSpPr>
          <a:xfrm>
            <a:off x="2961490" y="4128827"/>
            <a:ext cx="3134510" cy="1820709"/>
            <a:chOff x="8473573" y="4330208"/>
            <a:chExt cx="3134510" cy="1820709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0240BC6-8A9B-0ED9-45AC-9B9AB2791E9F}"/>
                </a:ext>
              </a:extLst>
            </p:cNvPr>
            <p:cNvSpPr txBox="1"/>
            <p:nvPr/>
          </p:nvSpPr>
          <p:spPr>
            <a:xfrm>
              <a:off x="8904841" y="4581257"/>
              <a:ext cx="2590699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r0_op1  = 1A 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r4_op1  = 11A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r8_op1  = 21B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r12_op1 = 31A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r16_op1 = 41D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r36_op1 = 51B 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EB5D2F-D356-4389-6BE3-E962C4DDD7FA}"/>
                </a:ext>
              </a:extLst>
            </p:cNvPr>
            <p:cNvSpPr txBox="1"/>
            <p:nvPr/>
          </p:nvSpPr>
          <p:spPr>
            <a:xfrm>
              <a:off x="8473574" y="4561397"/>
              <a:ext cx="762000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I1: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I2: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I3: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I4: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I5</a:t>
              </a:r>
              <a:r>
                <a:rPr lang="en-US" sz="1600" b="1" kern="1200" dirty="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Times New Roman" panose="02020603050405020304" pitchFamily="18" charset="0"/>
                </a:rPr>
                <a:t>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I6</a:t>
              </a:r>
              <a:r>
                <a:rPr lang="en-US" sz="1600" b="1" kern="1200" dirty="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BC754D-0B63-EC2E-7950-E9FBAE1803EF}"/>
                </a:ext>
              </a:extLst>
            </p:cNvPr>
            <p:cNvSpPr txBox="1"/>
            <p:nvPr/>
          </p:nvSpPr>
          <p:spPr>
            <a:xfrm>
              <a:off x="8473573" y="4330208"/>
              <a:ext cx="313451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800" b="1" kern="1200" dirty="0">
                  <a:solidFill>
                    <a:prstClr val="black"/>
                  </a:solidFill>
                  <a:latin typeface="Univers Condensed" panose="020B0506020202050204" pitchFamily="34" charset="0"/>
                  <a:ea typeface="+mn-ea"/>
                  <a:cs typeface="Times New Roman" panose="02020603050405020304" pitchFamily="18" charset="0"/>
                </a:rPr>
                <a:t>PE0 of Channel 0 Instructions:</a:t>
              </a:r>
              <a:endParaRPr lang="en-US" sz="1800" kern="1200" dirty="0">
                <a:solidFill>
                  <a:prstClr val="black"/>
                </a:solidFill>
                <a:latin typeface="Aptos" panose="02110004020202020204"/>
                <a:ea typeface="+mn-ea"/>
                <a:cs typeface="+mn-cs"/>
              </a:endParaRPr>
            </a:p>
          </p:txBody>
        </p:sp>
      </p:grpSp>
      <p:pic>
        <p:nvPicPr>
          <p:cNvPr id="7" name="Picture 6" descr="A graph with red circles&#10;&#10;AI-generated content may be incorrect.">
            <a:extLst>
              <a:ext uri="{FF2B5EF4-FFF2-40B4-BE49-F238E27FC236}">
                <a16:creationId xmlns:a16="http://schemas.microsoft.com/office/drawing/2014/main" id="{F3DFC607-D599-5F66-17F2-6E69160445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58938"/>
          <a:stretch>
            <a:fillRect/>
          </a:stretch>
        </p:blipFill>
        <p:spPr>
          <a:xfrm>
            <a:off x="7313286" y="1438228"/>
            <a:ext cx="4610100" cy="2659594"/>
          </a:xfrm>
          <a:prstGeom prst="rect">
            <a:avLst/>
          </a:prstGeom>
        </p:spPr>
      </p:pic>
      <p:pic>
        <p:nvPicPr>
          <p:cNvPr id="9" name="Picture 8" descr="A graph with red circles&#10;&#10;AI-generated content may be incorrect.">
            <a:extLst>
              <a:ext uri="{FF2B5EF4-FFF2-40B4-BE49-F238E27FC236}">
                <a16:creationId xmlns:a16="http://schemas.microsoft.com/office/drawing/2014/main" id="{076E4F73-52D5-9D89-9A84-6A849AB424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616" b="24273"/>
          <a:stretch>
            <a:fillRect/>
          </a:stretch>
        </p:blipFill>
        <p:spPr>
          <a:xfrm>
            <a:off x="7313286" y="4072422"/>
            <a:ext cx="4610100" cy="227408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831E3EA5-CEB5-D1AA-7B5F-326F857731DD}"/>
              </a:ext>
            </a:extLst>
          </p:cNvPr>
          <p:cNvGrpSpPr/>
          <p:nvPr/>
        </p:nvGrpSpPr>
        <p:grpSpPr>
          <a:xfrm>
            <a:off x="4583535" y="2487358"/>
            <a:ext cx="2358740" cy="1196838"/>
            <a:chOff x="2572009" y="5290912"/>
            <a:chExt cx="2358740" cy="11968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BAC731-F71E-BA39-EEAB-600BDFDFC9E3}"/>
                </a:ext>
              </a:extLst>
            </p:cNvPr>
            <p:cNvSpPr/>
            <p:nvPr/>
          </p:nvSpPr>
          <p:spPr>
            <a:xfrm>
              <a:off x="2572009" y="5302774"/>
              <a:ext cx="2280126" cy="1176975"/>
            </a:xfrm>
            <a:prstGeom prst="rect">
              <a:avLst/>
            </a:prstGeom>
            <a:solidFill>
              <a:srgbClr val="0E2841">
                <a:lumMod val="10000"/>
                <a:lumOff val="90000"/>
              </a:srgbClr>
            </a:solidFill>
            <a:ln w="1587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4C571D-8D6A-C42D-CB96-DC69B8928B8E}"/>
                </a:ext>
              </a:extLst>
            </p:cNvPr>
            <p:cNvSpPr txBox="1">
              <a:spLocks/>
            </p:cNvSpPr>
            <p:nvPr/>
          </p:nvSpPr>
          <p:spPr>
            <a:xfrm>
              <a:off x="4095133" y="5290912"/>
              <a:ext cx="5814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nivers Condensed" panose="020B0506020202050204" pitchFamily="34" charset="0"/>
                  <a:ea typeface="+mn-ea"/>
                  <a:cs typeface="+mn-cs"/>
                </a:rPr>
                <a:t>0.60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D45D7F7-6F79-2BB4-790B-657316D44243}"/>
                </a:ext>
              </a:extLst>
            </p:cNvPr>
            <p:cNvSpPr txBox="1"/>
            <p:nvPr/>
          </p:nvSpPr>
          <p:spPr>
            <a:xfrm>
              <a:off x="2686174" y="5290912"/>
              <a:ext cx="19173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Univers Condensed" panose="020B0506020202050204" pitchFamily="34" charset="0"/>
                  <a:ea typeface="+mn-ea"/>
                  <a:cs typeface="Times New Roman" panose="02020603050405020304" pitchFamily="18" charset="0"/>
                </a:rPr>
                <a:t>Throughput: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C39E97-F2FE-6B86-5D69-530E225B5B0C}"/>
                    </a:ext>
                  </a:extLst>
                </p:cNvPr>
                <p:cNvSpPr txBox="1"/>
                <p:nvPr/>
              </p:nvSpPr>
              <p:spPr>
                <a:xfrm>
                  <a:off x="2686174" y="5674835"/>
                  <a:ext cx="2244575" cy="81291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nivers Condensed" panose="020B0506020202050204" pitchFamily="34" charset="0"/>
                      <a:ea typeface="+mn-ea"/>
                      <a:cs typeface="Times New Roman" panose="02020603050405020304" pitchFamily="18" charset="0"/>
                    </a:rPr>
                    <a:t>PE0 underutilization: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nivers Condensed" panose="020B0506020202050204" pitchFamily="34" charset="0"/>
                      <a:ea typeface="+mn-ea"/>
                      <a:cs typeface="Times New Roman" panose="02020603050405020304" pitchFamily="18" charset="0"/>
                    </a:rPr>
                    <a:t> 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4 </m:t>
                          </m:r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𝑠𝑡𝑎𝑙𝑙𝑠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m:t>10</m:t>
                          </m:r>
                        </m:den>
                      </m:f>
                      <m:r>
                        <a:rPr kumimoji="0" lang="en-US" sz="20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ptos" panose="02110004020202020204"/>
                      <a:ea typeface="+mn-ea"/>
                      <a:cs typeface="+mn-cs"/>
                    </a:rPr>
                    <a:t> =</a:t>
                  </a:r>
                  <a:r>
                    <a:rPr kumimoji="0" lang="en-US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Univers Condensed" panose="020B0506020202050204" pitchFamily="34" charset="0"/>
                      <a:ea typeface="+mn-ea"/>
                      <a:cs typeface="+mn-cs"/>
                    </a:rPr>
                    <a:t> 40%</a:t>
                  </a: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12FBEC4-1D1F-97FC-F68F-AF792B588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6174" y="5674835"/>
                  <a:ext cx="2244575" cy="812915"/>
                </a:xfrm>
                <a:prstGeom prst="rect">
                  <a:avLst/>
                </a:prstGeom>
                <a:blipFill>
                  <a:blip r:embed="rId7"/>
                  <a:stretch>
                    <a:fillRect l="-2174" t="-4511" b="-526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38F73B1-BB8E-BD78-7B44-A83B9F88C609}"/>
              </a:ext>
            </a:extLst>
          </p:cNvPr>
          <p:cNvGrpSpPr/>
          <p:nvPr/>
        </p:nvGrpSpPr>
        <p:grpSpPr>
          <a:xfrm>
            <a:off x="4689112" y="4370651"/>
            <a:ext cx="1660799" cy="1615161"/>
            <a:chOff x="4689112" y="4233825"/>
            <a:chExt cx="1660799" cy="1615161"/>
          </a:xfrm>
        </p:grpSpPr>
        <p:pic>
          <p:nvPicPr>
            <p:cNvPr id="16" name="Graphic 15" descr="Line arrow: Clockwise curve outline">
              <a:extLst>
                <a:ext uri="{FF2B5EF4-FFF2-40B4-BE49-F238E27FC236}">
                  <a16:creationId xmlns:a16="http://schemas.microsoft.com/office/drawing/2014/main" id="{5ED1CEE1-F677-2E62-0554-33C45701EE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800000">
              <a:off x="4689112" y="4233825"/>
              <a:ext cx="1211174" cy="1615161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3AFEE49-0442-CEC4-4CEF-C54A81B589EE}"/>
                </a:ext>
              </a:extLst>
            </p:cNvPr>
            <p:cNvGrpSpPr/>
            <p:nvPr/>
          </p:nvGrpSpPr>
          <p:grpSpPr>
            <a:xfrm>
              <a:off x="5427766" y="4673277"/>
              <a:ext cx="922145" cy="400110"/>
              <a:chOff x="2560774" y="4335005"/>
              <a:chExt cx="922145" cy="40011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4A1ABD-4C94-7D81-8FF0-3394551A8F55}"/>
                  </a:ext>
                </a:extLst>
              </p:cNvPr>
              <p:cNvSpPr txBox="1"/>
              <p:nvPr/>
            </p:nvSpPr>
            <p:spPr>
              <a:xfrm>
                <a:off x="2560774" y="4335005"/>
                <a:ext cx="83764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Univers Condensed" panose="020B0506020202050204" pitchFamily="34" charset="0"/>
                    <a:cs typeface="Times New Roman" panose="02020603050405020304" pitchFamily="18" charset="0"/>
                  </a:rPr>
                  <a:t>RAW</a:t>
                </a:r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  <p:pic>
            <p:nvPicPr>
              <p:cNvPr id="19" name="Picture 18" descr="A yellow lightning bolt on a black background&#10;&#10;AI-generated content may be incorrect.">
                <a:extLst>
                  <a:ext uri="{FF2B5EF4-FFF2-40B4-BE49-F238E27FC236}">
                    <a16:creationId xmlns:a16="http://schemas.microsoft.com/office/drawing/2014/main" id="{E70954D2-6CA3-64A8-EF23-781E2BC354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84273" y="4382690"/>
                <a:ext cx="298646" cy="298646"/>
              </a:xfrm>
              <a:prstGeom prst="rect">
                <a:avLst/>
              </a:prstGeom>
            </p:spPr>
          </p:pic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0FF2022-2847-FA31-8F8D-D484554C1A65}"/>
              </a:ext>
            </a:extLst>
          </p:cNvPr>
          <p:cNvSpPr txBox="1"/>
          <p:nvPr/>
        </p:nvSpPr>
        <p:spPr>
          <a:xfrm>
            <a:off x="3391687" y="5806986"/>
            <a:ext cx="26595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r0_op2  = 2B  +r0_op1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EE93EC-AE7A-5B12-1CE5-D5A0F30686CD}"/>
              </a:ext>
            </a:extLst>
          </p:cNvPr>
          <p:cNvSpPr txBox="1"/>
          <p:nvPr/>
        </p:nvSpPr>
        <p:spPr>
          <a:xfrm>
            <a:off x="2959272" y="5804950"/>
            <a:ext cx="517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buFontTx/>
              <a:buNone/>
            </a:pPr>
            <a:r>
              <a: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I7</a:t>
            </a:r>
            <a:r>
              <a:rPr lang="en-US" sz="1600" b="1" dirty="0">
                <a:solidFill>
                  <a:prstClr val="black"/>
                </a:solidFill>
                <a:latin typeface="Univers Condensed" panose="020B0506020202050204" pitchFamily="34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B563D-1723-2AB9-BE2F-BFE3C1E34F4F}"/>
              </a:ext>
            </a:extLst>
          </p:cNvPr>
          <p:cNvSpPr txBox="1"/>
          <p:nvPr/>
        </p:nvSpPr>
        <p:spPr>
          <a:xfrm>
            <a:off x="7591848" y="6346508"/>
            <a:ext cx="433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Pipeline</a:t>
            </a:r>
            <a:r>
              <a:rPr lang="en-US" sz="1800" b="1" kern="1200" dirty="0"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of PE-aware Non-zero Scheduling</a:t>
            </a:r>
            <a:endParaRPr lang="en-US" sz="1800" b="1" kern="1200" dirty="0">
              <a:latin typeface="Univers Condensed" panose="020B050602020205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925F81-5205-58B2-4BBC-29923B0AEBF8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7418F68-2DFC-52ED-C5CE-48A5405DD717}"/>
              </a:ext>
            </a:extLst>
          </p:cNvPr>
          <p:cNvGrpSpPr/>
          <p:nvPr/>
        </p:nvGrpSpPr>
        <p:grpSpPr>
          <a:xfrm>
            <a:off x="8277114" y="891225"/>
            <a:ext cx="3537146" cy="376919"/>
            <a:chOff x="8277114" y="891225"/>
            <a:chExt cx="3537146" cy="376919"/>
          </a:xfrm>
        </p:grpSpPr>
        <p:pic>
          <p:nvPicPr>
            <p:cNvPr id="24" name="Picture 23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FA721C75-98AB-8931-01BA-2212F1B71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t="30849" b="38554"/>
            <a:stretch>
              <a:fillRect/>
            </a:stretch>
          </p:blipFill>
          <p:spPr>
            <a:xfrm>
              <a:off x="8277114" y="891225"/>
              <a:ext cx="2590800" cy="376919"/>
            </a:xfrm>
            <a:prstGeom prst="rect">
              <a:avLst/>
            </a:prstGeom>
          </p:spPr>
        </p:pic>
        <p:pic>
          <p:nvPicPr>
            <p:cNvPr id="25" name="Picture 24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0502CD71-4C6F-E9D6-ADA2-E516A6419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3822" t="61323" r="56940" b="8104"/>
            <a:stretch>
              <a:fillRect/>
            </a:stretch>
          </p:blipFill>
          <p:spPr>
            <a:xfrm>
              <a:off x="10797682" y="891366"/>
              <a:ext cx="1016578" cy="376635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A04250B-BF9C-1E2D-87ED-93DEEC883C56}"/>
              </a:ext>
            </a:extLst>
          </p:cNvPr>
          <p:cNvSpPr txBox="1"/>
          <p:nvPr/>
        </p:nvSpPr>
        <p:spPr>
          <a:xfrm>
            <a:off x="87500" y="6550223"/>
            <a:ext cx="2530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 </a:t>
            </a:r>
            <a:r>
              <a:rPr lang="en-US" sz="1400" dirty="0">
                <a:effectLst/>
                <a:latin typeface="Univers Condensed" panose="020B0506020202050204" pitchFamily="34" charset="0"/>
              </a:rPr>
              <a:t>L. Song </a:t>
            </a:r>
            <a:r>
              <a:rPr lang="en-US" sz="1400" dirty="0" err="1">
                <a:effectLst/>
                <a:latin typeface="Univers Condensed" panose="020B0506020202050204" pitchFamily="34" charset="0"/>
              </a:rPr>
              <a:t>et.al</a:t>
            </a:r>
            <a:r>
              <a:rPr lang="en-US" sz="1400" dirty="0">
                <a:effectLst/>
                <a:latin typeface="Univers Condensed" panose="020B0506020202050204" pitchFamily="34" charset="0"/>
              </a:rPr>
              <a:t> Serpens DAC 2022</a:t>
            </a:r>
            <a:endParaRPr lang="en-US" sz="4000" dirty="0">
              <a:effectLst/>
              <a:latin typeface="Univers Condensed" panose="020B0506020202050204" pitchFamily="34" charset="0"/>
            </a:endParaRPr>
          </a:p>
        </p:txBody>
      </p:sp>
      <p:sp>
        <p:nvSpPr>
          <p:cNvPr id="28" name="5-Point Star 27">
            <a:extLst>
              <a:ext uri="{FF2B5EF4-FFF2-40B4-BE49-F238E27FC236}">
                <a16:creationId xmlns:a16="http://schemas.microsoft.com/office/drawing/2014/main" id="{34C9BD12-B5B3-531B-FA68-4DA0B123BE32}"/>
              </a:ext>
            </a:extLst>
          </p:cNvPr>
          <p:cNvSpPr/>
          <p:nvPr/>
        </p:nvSpPr>
        <p:spPr>
          <a:xfrm>
            <a:off x="5885550" y="1607176"/>
            <a:ext cx="149324" cy="138198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5-Point Star 29">
            <a:extLst>
              <a:ext uri="{FF2B5EF4-FFF2-40B4-BE49-F238E27FC236}">
                <a16:creationId xmlns:a16="http://schemas.microsoft.com/office/drawing/2014/main" id="{E629D7E4-9B61-1E63-D338-37D3907B5C07}"/>
              </a:ext>
            </a:extLst>
          </p:cNvPr>
          <p:cNvSpPr/>
          <p:nvPr/>
        </p:nvSpPr>
        <p:spPr>
          <a:xfrm>
            <a:off x="41637" y="6621392"/>
            <a:ext cx="149324" cy="138198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9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1" grpId="0"/>
      <p:bldP spid="22" grpId="0"/>
      <p:bldP spid="27" grpId="0"/>
      <p:bldP spid="28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AF67A793-4755-91BE-3397-0CB430D3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DAC44DD1-28A2-13B6-8BE8-0FFA44465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Poor Data Scheduling</a:t>
            </a:r>
          </a:p>
        </p:txBody>
      </p:sp>
      <p:sp>
        <p:nvSpPr>
          <p:cNvPr id="8" name="Google Shape;116;p5">
            <a:extLst>
              <a:ext uri="{FF2B5EF4-FFF2-40B4-BE49-F238E27FC236}">
                <a16:creationId xmlns:a16="http://schemas.microsoft.com/office/drawing/2014/main" id="{A1B37983-01E3-402E-97DD-F95BB47D1ADB}"/>
              </a:ext>
            </a:extLst>
          </p:cNvPr>
          <p:cNvSpPr txBox="1">
            <a:spLocks/>
          </p:cNvSpPr>
          <p:nvPr/>
        </p:nvSpPr>
        <p:spPr>
          <a:xfrm>
            <a:off x="307860" y="1219251"/>
            <a:ext cx="667335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1" i="0" u="none" strike="noStrike" cap="none">
                <a:solidFill>
                  <a:srgbClr val="98266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Univers Condensed" panose="020B0506020202050204" pitchFamily="34" charset="0"/>
              </a:rPr>
              <a:t>2. Cross-HBM Channel </a:t>
            </a:r>
            <a:r>
              <a:rPr lang="en-US" sz="3200" dirty="0" err="1">
                <a:solidFill>
                  <a:schemeClr val="tx1"/>
                </a:solidFill>
                <a:latin typeface="Univers Condensed" panose="020B0506020202050204" pitchFamily="34" charset="0"/>
              </a:rPr>
              <a:t>OoO</a:t>
            </a:r>
            <a:r>
              <a:rPr lang="en-US" sz="3200" dirty="0">
                <a:solidFill>
                  <a:schemeClr val="tx1"/>
                </a:solidFill>
                <a:latin typeface="Univers Condensed" panose="020B0506020202050204" pitchFamily="34" charset="0"/>
              </a:rPr>
              <a:t> Scheduling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1946075-BFEE-B18D-6B93-55821FDB1C9C}"/>
              </a:ext>
            </a:extLst>
          </p:cNvPr>
          <p:cNvGrpSpPr/>
          <p:nvPr/>
        </p:nvGrpSpPr>
        <p:grpSpPr>
          <a:xfrm>
            <a:off x="530373" y="5036478"/>
            <a:ext cx="2601369" cy="840927"/>
            <a:chOff x="8038708" y="7480769"/>
            <a:chExt cx="2325857" cy="84092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0605CFD-1402-06DE-4A1C-C36CFED05960}"/>
                </a:ext>
              </a:extLst>
            </p:cNvPr>
            <p:cNvSpPr txBox="1"/>
            <p:nvPr/>
          </p:nvSpPr>
          <p:spPr>
            <a:xfrm>
              <a:off x="8469976" y="7490699"/>
              <a:ext cx="189458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r80_op1_sh =61A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r81_op1_sh =71C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r82_op1_sh =81B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F9996A-9841-E0FD-681F-4FD551E06813}"/>
                </a:ext>
              </a:extLst>
            </p:cNvPr>
            <p:cNvSpPr txBox="1"/>
            <p:nvPr/>
          </p:nvSpPr>
          <p:spPr>
            <a:xfrm>
              <a:off x="8038708" y="7480769"/>
              <a:ext cx="762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i8: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i9: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i10: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CB6F997-6BE7-EAE7-DE80-BFC54E2607C9}"/>
              </a:ext>
            </a:extLst>
          </p:cNvPr>
          <p:cNvSpPr txBox="1"/>
          <p:nvPr/>
        </p:nvSpPr>
        <p:spPr>
          <a:xfrm>
            <a:off x="541300" y="4678371"/>
            <a:ext cx="4040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buFontTx/>
              <a:buNone/>
            </a:pPr>
            <a:r>
              <a:rPr lang="en-US" sz="1800" b="1" kern="1200" dirty="0">
                <a:solidFill>
                  <a:prstClr val="black"/>
                </a:solidFill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PE0 of Channel 1 instructions:</a:t>
            </a:r>
            <a:endParaRPr lang="en-US" sz="18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8172956-4E11-71A9-2B41-BC749AD183A0}"/>
              </a:ext>
            </a:extLst>
          </p:cNvPr>
          <p:cNvCxnSpPr>
            <a:cxnSpLocks/>
          </p:cNvCxnSpPr>
          <p:nvPr/>
        </p:nvCxnSpPr>
        <p:spPr>
          <a:xfrm>
            <a:off x="3048132" y="5577733"/>
            <a:ext cx="858400" cy="0"/>
          </a:xfrm>
          <a:prstGeom prst="straightConnector1">
            <a:avLst/>
          </a:prstGeom>
          <a:ln w="38100">
            <a:solidFill>
              <a:srgbClr val="98266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7A4B82C-04FB-4BD3-EC49-367DB1928097}"/>
              </a:ext>
            </a:extLst>
          </p:cNvPr>
          <p:cNvGrpSpPr/>
          <p:nvPr/>
        </p:nvGrpSpPr>
        <p:grpSpPr>
          <a:xfrm>
            <a:off x="7472036" y="1682558"/>
            <a:ext cx="4613147" cy="4359806"/>
            <a:chOff x="7573169" y="1057538"/>
            <a:chExt cx="4613147" cy="4359806"/>
          </a:xfrm>
        </p:grpSpPr>
        <p:pic>
          <p:nvPicPr>
            <p:cNvPr id="30" name="Picture 29" descr="A graph with red circles&#10;&#10;AI-generated content may be incorrect.">
              <a:extLst>
                <a:ext uri="{FF2B5EF4-FFF2-40B4-BE49-F238E27FC236}">
                  <a16:creationId xmlns:a16="http://schemas.microsoft.com/office/drawing/2014/main" id="{A25ED314-DC25-34AA-AA9A-7F095552E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0616" b="30188"/>
            <a:stretch>
              <a:fillRect/>
            </a:stretch>
          </p:blipFill>
          <p:spPr>
            <a:xfrm>
              <a:off x="7576216" y="3526376"/>
              <a:ext cx="4610100" cy="1890968"/>
            </a:xfrm>
            <a:prstGeom prst="rect">
              <a:avLst/>
            </a:prstGeom>
          </p:spPr>
        </p:pic>
        <p:pic>
          <p:nvPicPr>
            <p:cNvPr id="31" name="Picture 30" descr="A graph with red circles&#10;&#10;AI-generated content may be incorrect.">
              <a:extLst>
                <a:ext uri="{FF2B5EF4-FFF2-40B4-BE49-F238E27FC236}">
                  <a16:creationId xmlns:a16="http://schemas.microsoft.com/office/drawing/2014/main" id="{C6D4E65D-1AB1-A165-D35C-464E94ED05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552" b="58938"/>
            <a:stretch>
              <a:fillRect/>
            </a:stretch>
          </p:blipFill>
          <p:spPr>
            <a:xfrm>
              <a:off x="7573169" y="1057538"/>
              <a:ext cx="4610100" cy="2494184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EFECD0BF-B103-62D2-FF51-05A5EE59AA44}"/>
              </a:ext>
            </a:extLst>
          </p:cNvPr>
          <p:cNvSpPr txBox="1"/>
          <p:nvPr/>
        </p:nvSpPr>
        <p:spPr>
          <a:xfrm>
            <a:off x="7607565" y="6129805"/>
            <a:ext cx="4331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Pipeline</a:t>
            </a:r>
            <a:r>
              <a:rPr lang="en-US" sz="1800" b="1" kern="1200" dirty="0"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of PE-aware Non-zero Scheduling</a:t>
            </a:r>
            <a:endParaRPr lang="en-US" sz="1800" b="1" kern="1200" dirty="0">
              <a:latin typeface="Univers Condensed" panose="020B0506020202050204" pitchFamily="34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5AED9F-24E5-5ED1-7E58-A00F13557DAB}"/>
              </a:ext>
            </a:extLst>
          </p:cNvPr>
          <p:cNvGrpSpPr/>
          <p:nvPr/>
        </p:nvGrpSpPr>
        <p:grpSpPr>
          <a:xfrm>
            <a:off x="387350" y="2430203"/>
            <a:ext cx="2705100" cy="2209800"/>
            <a:chOff x="387350" y="2430203"/>
            <a:chExt cx="2705100" cy="2209800"/>
          </a:xfrm>
        </p:grpSpPr>
        <p:pic>
          <p:nvPicPr>
            <p:cNvPr id="22" name="Picture 21" descr="Red numbers on a black background&#10;&#10;AI-generated content may be incorrect.">
              <a:extLst>
                <a:ext uri="{FF2B5EF4-FFF2-40B4-BE49-F238E27FC236}">
                  <a16:creationId xmlns:a16="http://schemas.microsoft.com/office/drawing/2014/main" id="{027C102F-B586-7B2B-B562-EDB9FCFCC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7350" y="2430203"/>
              <a:ext cx="2705100" cy="2209800"/>
            </a:xfrm>
            <a:prstGeom prst="rect">
              <a:avLst/>
            </a:prstGeom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84904F-EB3D-8724-CE7F-C931CD241D6A}"/>
                </a:ext>
              </a:extLst>
            </p:cNvPr>
            <p:cNvSpPr/>
            <p:nvPr/>
          </p:nvSpPr>
          <p:spPr>
            <a:xfrm>
              <a:off x="1231105" y="4141957"/>
              <a:ext cx="285751" cy="256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81709D1-BA7A-9ED8-B793-7822CD546C7E}"/>
                </a:ext>
              </a:extLst>
            </p:cNvPr>
            <p:cNvSpPr txBox="1"/>
            <p:nvPr/>
          </p:nvSpPr>
          <p:spPr>
            <a:xfrm>
              <a:off x="1213519" y="403923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Univers Condensed" panose="020B0506020202050204" pitchFamily="34" charset="0"/>
                </a:rPr>
                <a:t>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551E842-A462-72D8-755E-5C9ABBA16418}"/>
              </a:ext>
            </a:extLst>
          </p:cNvPr>
          <p:cNvSpPr txBox="1"/>
          <p:nvPr/>
        </p:nvSpPr>
        <p:spPr>
          <a:xfrm>
            <a:off x="3932161" y="5049184"/>
            <a:ext cx="2264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</a:pPr>
            <a:r>
              <a:rPr lang="en-US" sz="1800" dirty="0" err="1">
                <a:solidFill>
                  <a:prstClr val="black"/>
                </a:solidFill>
                <a:latin typeface="Univers Condensed" panose="020B0506020202050204" pitchFamily="34" charset="0"/>
                <a:cs typeface="Times New Roman" panose="02020603050405020304" pitchFamily="18" charset="0"/>
              </a:rPr>
              <a:t>CrHCS</a:t>
            </a:r>
            <a:r>
              <a:rPr lang="en-US" sz="1800" kern="1200" dirty="0">
                <a:solidFill>
                  <a:prstClr val="black"/>
                </a:solidFill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 schedule these instructions to the PEs of Channel 0</a:t>
            </a:r>
            <a:endParaRPr lang="en-US" sz="18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4ED6DC-1782-2BF3-EA0A-585104CA9D52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83907E-2304-BFC6-FF20-71DE42143B3C}"/>
              </a:ext>
            </a:extLst>
          </p:cNvPr>
          <p:cNvGrpSpPr/>
          <p:nvPr/>
        </p:nvGrpSpPr>
        <p:grpSpPr>
          <a:xfrm>
            <a:off x="8277114" y="891225"/>
            <a:ext cx="3537146" cy="376919"/>
            <a:chOff x="8277114" y="891225"/>
            <a:chExt cx="3537146" cy="376919"/>
          </a:xfrm>
        </p:grpSpPr>
        <p:pic>
          <p:nvPicPr>
            <p:cNvPr id="5" name="Picture 4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FB9E87F5-B209-4B25-AA19-85A746F9A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30849" b="38554"/>
            <a:stretch>
              <a:fillRect/>
            </a:stretch>
          </p:blipFill>
          <p:spPr>
            <a:xfrm>
              <a:off x="8277114" y="891225"/>
              <a:ext cx="2590800" cy="376919"/>
            </a:xfrm>
            <a:prstGeom prst="rect">
              <a:avLst/>
            </a:prstGeom>
          </p:spPr>
        </p:pic>
        <p:pic>
          <p:nvPicPr>
            <p:cNvPr id="6" name="Picture 5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03CE07F9-225F-A584-94B7-188C3D24F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22" t="61323" r="56940" b="8104"/>
            <a:stretch>
              <a:fillRect/>
            </a:stretch>
          </p:blipFill>
          <p:spPr>
            <a:xfrm>
              <a:off x="10797682" y="891366"/>
              <a:ext cx="1016578" cy="376635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13E898-1A5A-443A-9C18-8A59867BD63F}"/>
              </a:ext>
            </a:extLst>
          </p:cNvPr>
          <p:cNvGrpSpPr/>
          <p:nvPr/>
        </p:nvGrpSpPr>
        <p:grpSpPr>
          <a:xfrm>
            <a:off x="41637" y="6550223"/>
            <a:ext cx="3006495" cy="307777"/>
            <a:chOff x="41637" y="6550223"/>
            <a:chExt cx="300649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9C64376-C8FD-6865-ADF0-887A89A0A772}"/>
                </a:ext>
              </a:extLst>
            </p:cNvPr>
            <p:cNvSpPr txBox="1"/>
            <p:nvPr/>
          </p:nvSpPr>
          <p:spPr>
            <a:xfrm>
              <a:off x="87500" y="6550223"/>
              <a:ext cx="29606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Univers Condensed" panose="020B0506020202050204" pitchFamily="34" charset="0"/>
                </a:rPr>
                <a:t> U. Bakhtiar </a:t>
              </a:r>
              <a:r>
                <a:rPr lang="en-US" sz="1400" dirty="0" err="1">
                  <a:effectLst/>
                  <a:latin typeface="Univers Condensed" panose="020B0506020202050204" pitchFamily="34" charset="0"/>
                </a:rPr>
                <a:t>et.al</a:t>
              </a:r>
              <a:r>
                <a:rPr lang="en-US" sz="1400" dirty="0">
                  <a:effectLst/>
                  <a:latin typeface="Univers Condensed" panose="020B0506020202050204" pitchFamily="34" charset="0"/>
                </a:rPr>
                <a:t> Chason MICRO 2025</a:t>
              </a:r>
              <a:endParaRPr lang="en-US" sz="4000" dirty="0">
                <a:effectLst/>
                <a:latin typeface="Univers Condensed" panose="020B0506020202050204" pitchFamily="34" charset="0"/>
              </a:endParaRPr>
            </a:p>
          </p:txBody>
        </p:sp>
        <p:sp>
          <p:nvSpPr>
            <p:cNvPr id="9" name="5-Point Star 8">
              <a:extLst>
                <a:ext uri="{FF2B5EF4-FFF2-40B4-BE49-F238E27FC236}">
                  <a16:creationId xmlns:a16="http://schemas.microsoft.com/office/drawing/2014/main" id="{71FFE078-4CD2-DADC-4B19-05ECA2C914E1}"/>
                </a:ext>
              </a:extLst>
            </p:cNvPr>
            <p:cNvSpPr/>
            <p:nvPr/>
          </p:nvSpPr>
          <p:spPr>
            <a:xfrm>
              <a:off x="41637" y="6603104"/>
              <a:ext cx="149324" cy="138198"/>
            </a:xfrm>
            <a:prstGeom prst="star5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5-Point Star 10">
            <a:extLst>
              <a:ext uri="{FF2B5EF4-FFF2-40B4-BE49-F238E27FC236}">
                <a16:creationId xmlns:a16="http://schemas.microsoft.com/office/drawing/2014/main" id="{65B6B406-0E26-4C89-4535-D648A6E39CF8}"/>
              </a:ext>
            </a:extLst>
          </p:cNvPr>
          <p:cNvSpPr/>
          <p:nvPr/>
        </p:nvSpPr>
        <p:spPr>
          <a:xfrm>
            <a:off x="6793739" y="1613459"/>
            <a:ext cx="149324" cy="138198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3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12DE55B5-DE5D-86E5-E6F0-485976B7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4A2F404B-840A-2588-0F1B-4EF64FAD2C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Poor Data Scheduling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775B28C-87CE-BD65-9734-B87A26E3AA5B}"/>
              </a:ext>
            </a:extLst>
          </p:cNvPr>
          <p:cNvGrpSpPr/>
          <p:nvPr/>
        </p:nvGrpSpPr>
        <p:grpSpPr>
          <a:xfrm>
            <a:off x="530373" y="5036478"/>
            <a:ext cx="2601369" cy="840927"/>
            <a:chOff x="8038708" y="7480769"/>
            <a:chExt cx="2325857" cy="84092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CD5ED02-5122-647A-8A02-D8371A759F7A}"/>
                </a:ext>
              </a:extLst>
            </p:cNvPr>
            <p:cNvSpPr txBox="1"/>
            <p:nvPr/>
          </p:nvSpPr>
          <p:spPr>
            <a:xfrm>
              <a:off x="8469976" y="7490699"/>
              <a:ext cx="189458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r80_op1_sh =61A</a:t>
              </a:r>
              <a:endParaRPr lang="en-US" sz="1600" b="1" dirty="0">
                <a:solidFill>
                  <a:prstClr val="black"/>
                </a:solidFill>
                <a:latin typeface="Consolas" panose="020B0609020204030204" pitchFamily="49" charset="0"/>
                <a:cs typeface="Times New Roman" panose="02020603050405020304" pitchFamily="18" charset="0"/>
              </a:endParaRP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r81_op1_sh =71C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prstClr val="black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r82_op1_sh =81B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5AD7D4-7C96-7FAA-5A84-4B0DE9E04127}"/>
                </a:ext>
              </a:extLst>
            </p:cNvPr>
            <p:cNvSpPr txBox="1"/>
            <p:nvPr/>
          </p:nvSpPr>
          <p:spPr>
            <a:xfrm>
              <a:off x="8038708" y="7480769"/>
              <a:ext cx="762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i8: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i9:</a:t>
              </a:r>
            </a:p>
            <a:p>
              <a:pPr>
                <a:buClrTx/>
                <a:buFontTx/>
                <a:buNone/>
              </a:pPr>
              <a:r>
                <a:rPr lang="en-US" sz="1600" b="1" kern="1200" dirty="0">
                  <a:solidFill>
                    <a:srgbClr val="196B24"/>
                  </a:solidFill>
                  <a:latin typeface="Consolas" panose="020B0609020204030204" pitchFamily="49" charset="0"/>
                  <a:ea typeface="+mn-ea"/>
                  <a:cs typeface="Times New Roman" panose="02020603050405020304" pitchFamily="18" charset="0"/>
                </a:rPr>
                <a:t>i10: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87C62B6A-041B-29D1-EF85-ACF7958AA909}"/>
              </a:ext>
            </a:extLst>
          </p:cNvPr>
          <p:cNvSpPr txBox="1"/>
          <p:nvPr/>
        </p:nvSpPr>
        <p:spPr>
          <a:xfrm>
            <a:off x="541300" y="4678371"/>
            <a:ext cx="4040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Tx/>
              <a:buFontTx/>
              <a:buNone/>
            </a:pPr>
            <a:r>
              <a:rPr lang="en-US" sz="1800" b="1" kern="1200" dirty="0">
                <a:solidFill>
                  <a:prstClr val="black"/>
                </a:solidFill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PE0 of Channel 1 instructions:</a:t>
            </a:r>
            <a:endParaRPr lang="en-US" sz="18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369BC46-FBF6-C917-0F5F-02FD5DC72347}"/>
              </a:ext>
            </a:extLst>
          </p:cNvPr>
          <p:cNvCxnSpPr>
            <a:cxnSpLocks/>
          </p:cNvCxnSpPr>
          <p:nvPr/>
        </p:nvCxnSpPr>
        <p:spPr>
          <a:xfrm>
            <a:off x="3048132" y="5577733"/>
            <a:ext cx="858400" cy="0"/>
          </a:xfrm>
          <a:prstGeom prst="straightConnector1">
            <a:avLst/>
          </a:prstGeom>
          <a:ln w="38100">
            <a:solidFill>
              <a:srgbClr val="98266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BC9DCA3-6933-D470-5811-EDC811124418}"/>
              </a:ext>
            </a:extLst>
          </p:cNvPr>
          <p:cNvSpPr txBox="1"/>
          <p:nvPr/>
        </p:nvSpPr>
        <p:spPr>
          <a:xfrm>
            <a:off x="3932161" y="5049184"/>
            <a:ext cx="22647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Tx/>
              <a:buFontTx/>
              <a:buNone/>
            </a:pPr>
            <a:r>
              <a:rPr lang="en-US" sz="1800" dirty="0" err="1">
                <a:solidFill>
                  <a:prstClr val="black"/>
                </a:solidFill>
                <a:latin typeface="Univers Condensed" panose="020B0506020202050204" pitchFamily="34" charset="0"/>
                <a:cs typeface="Times New Roman" panose="02020603050405020304" pitchFamily="18" charset="0"/>
              </a:rPr>
              <a:t>CrHCS</a:t>
            </a:r>
            <a:r>
              <a:rPr lang="en-US" sz="1800" kern="1200" dirty="0">
                <a:solidFill>
                  <a:prstClr val="black"/>
                </a:solidFill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 schedule these instructions to the PEs of Channel 0</a:t>
            </a:r>
            <a:endParaRPr lang="en-US" sz="1800" kern="1200" dirty="0">
              <a:solidFill>
                <a:prstClr val="black"/>
              </a:solidFill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304FA2D-C851-BF9A-6C3A-5FE7377AD1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47" b="29718"/>
          <a:stretch>
            <a:fillRect/>
          </a:stretch>
        </p:blipFill>
        <p:spPr>
          <a:xfrm>
            <a:off x="7445492" y="1745406"/>
            <a:ext cx="4648200" cy="4292867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A68550-4281-BD1A-5106-6B7BDACAA92C}"/>
              </a:ext>
            </a:extLst>
          </p:cNvPr>
          <p:cNvCxnSpPr>
            <a:cxnSpLocks/>
          </p:cNvCxnSpPr>
          <p:nvPr/>
        </p:nvCxnSpPr>
        <p:spPr>
          <a:xfrm>
            <a:off x="6223657" y="5510849"/>
            <a:ext cx="858400" cy="0"/>
          </a:xfrm>
          <a:prstGeom prst="straightConnector1">
            <a:avLst/>
          </a:prstGeom>
          <a:ln w="38100">
            <a:solidFill>
              <a:srgbClr val="982668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404E151-6E83-B1AE-1865-62871333A63C}"/>
              </a:ext>
            </a:extLst>
          </p:cNvPr>
          <p:cNvSpPr/>
          <p:nvPr/>
        </p:nvSpPr>
        <p:spPr>
          <a:xfrm>
            <a:off x="3466219" y="3343434"/>
            <a:ext cx="3685366" cy="749300"/>
          </a:xfrm>
          <a:prstGeom prst="rect">
            <a:avLst/>
          </a:prstGeom>
          <a:solidFill>
            <a:srgbClr val="0E2841">
              <a:lumMod val="10000"/>
              <a:lumOff val="90000"/>
            </a:srgbClr>
          </a:solidFill>
          <a:ln w="158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B974A9-D7AE-EEC4-A296-9457D823B8F2}"/>
              </a:ext>
            </a:extLst>
          </p:cNvPr>
          <p:cNvSpPr txBox="1">
            <a:spLocks/>
          </p:cNvSpPr>
          <p:nvPr/>
        </p:nvSpPr>
        <p:spPr>
          <a:xfrm>
            <a:off x="4759087" y="3308043"/>
            <a:ext cx="23229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 non-zero per cycle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Univers Condensed" panose="020B0506020202050204" pitchFamily="34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7C0E7E-5690-1C13-788E-7F0DC368F13A}"/>
              </a:ext>
            </a:extLst>
          </p:cNvPr>
          <p:cNvSpPr txBox="1"/>
          <p:nvPr/>
        </p:nvSpPr>
        <p:spPr>
          <a:xfrm>
            <a:off x="3435061" y="3308043"/>
            <a:ext cx="1423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Univers Condensed" panose="020B0506020202050204" pitchFamily="34" charset="0"/>
                <a:ea typeface="+mn-ea"/>
                <a:cs typeface="Times New Roman" panose="02020603050405020304" pitchFamily="18" charset="0"/>
              </a:rPr>
              <a:t>Throughput: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409198-B4A8-0818-D090-054CFD96E9BC}"/>
                  </a:ext>
                </a:extLst>
              </p:cNvPr>
              <p:cNvSpPr txBox="1"/>
              <p:nvPr/>
            </p:nvSpPr>
            <p:spPr>
              <a:xfrm>
                <a:off x="3403808" y="3569793"/>
                <a:ext cx="3909478" cy="5359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nivers Condensed" panose="020B0506020202050204" pitchFamily="34" charset="0"/>
                    <a:ea typeface="+mn-ea"/>
                    <a:cs typeface="Times New Roman" panose="02020603050405020304" pitchFamily="18" charset="0"/>
                  </a:rPr>
                  <a:t>PE0 underutilization: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1 </m:t>
                        </m:r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𝑠𝑡𝑎𝑙𝑙𝑠</m:t>
                        </m:r>
                      </m:num>
                      <m:den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  <m:t>10</m:t>
                        </m:r>
                      </m:den>
                    </m:f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=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nivers Condensed" panose="020B0506020202050204" pitchFamily="34" charset="0"/>
                    <a:ea typeface="+mn-ea"/>
                    <a:cs typeface="+mn-cs"/>
                  </a:rPr>
                  <a:t>1</a:t>
                </a:r>
                <a:r>
                  <a:rPr lang="en-US" sz="2000" b="1" kern="1200" dirty="0">
                    <a:solidFill>
                      <a:prstClr val="black"/>
                    </a:solidFill>
                    <a:latin typeface="Univers Condensed" panose="020B0506020202050204" pitchFamily="34" charset="0"/>
                    <a:ea typeface="+mn-ea"/>
                    <a:cs typeface="+mn-cs"/>
                  </a:rPr>
                  <a:t>0</a:t>
                </a: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Univers Condensed" panose="020B0506020202050204" pitchFamily="34" charset="0"/>
                    <a:ea typeface="+mn-ea"/>
                    <a:cs typeface="+mn-cs"/>
                  </a:rPr>
                  <a:t>%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8409198-B4A8-0818-D090-054CFD96E9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808" y="3569793"/>
                <a:ext cx="3909478" cy="535916"/>
              </a:xfrm>
              <a:prstGeom prst="rect">
                <a:avLst/>
              </a:prstGeom>
              <a:blipFill>
                <a:blip r:embed="rId4"/>
                <a:stretch>
                  <a:fillRect l="-1558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DB4F1130-E2B3-5D38-9162-CE937040AF33}"/>
              </a:ext>
            </a:extLst>
          </p:cNvPr>
          <p:cNvSpPr txBox="1"/>
          <p:nvPr/>
        </p:nvSpPr>
        <p:spPr>
          <a:xfrm>
            <a:off x="7603823" y="6158931"/>
            <a:ext cx="43315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ctr" defTabSz="914400" rtl="0" eaLnBrk="1" latinLnBrk="0" hangingPunct="1"/>
            <a:r>
              <a:rPr lang="en-US" b="1" dirty="0">
                <a:latin typeface="Univers Condensed" panose="020B0506020202050204" pitchFamily="34" charset="0"/>
                <a:cs typeface="Times New Roman" panose="02020603050405020304" pitchFamily="18" charset="0"/>
              </a:rPr>
              <a:t>Pipeline of </a:t>
            </a:r>
            <a:r>
              <a:rPr lang="en-US" b="1" dirty="0" err="1">
                <a:latin typeface="Univers Condensed" panose="020B0506020202050204" pitchFamily="34" charset="0"/>
                <a:cs typeface="Times New Roman" panose="02020603050405020304" pitchFamily="18" charset="0"/>
              </a:rPr>
              <a:t>CrHCS</a:t>
            </a:r>
            <a:endParaRPr lang="en-US" b="1" dirty="0">
              <a:latin typeface="Univers Condensed" panose="020B05060202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1B1042-9477-9A88-1EA6-182FFA14AB65}"/>
              </a:ext>
            </a:extLst>
          </p:cNvPr>
          <p:cNvSpPr/>
          <p:nvPr/>
        </p:nvSpPr>
        <p:spPr>
          <a:xfrm>
            <a:off x="8343899" y="5698294"/>
            <a:ext cx="352425" cy="28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25E5C9-3DAB-371F-920F-7D94DBB48CEF}"/>
              </a:ext>
            </a:extLst>
          </p:cNvPr>
          <p:cNvSpPr/>
          <p:nvPr/>
        </p:nvSpPr>
        <p:spPr>
          <a:xfrm>
            <a:off x="7939087" y="5338725"/>
            <a:ext cx="352425" cy="283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ircle: Hollow 36">
            <a:extLst>
              <a:ext uri="{FF2B5EF4-FFF2-40B4-BE49-F238E27FC236}">
                <a16:creationId xmlns:a16="http://schemas.microsoft.com/office/drawing/2014/main" id="{3A4AAA31-DC1E-3390-98B9-C1D08488D58F}"/>
              </a:ext>
            </a:extLst>
          </p:cNvPr>
          <p:cNvSpPr/>
          <p:nvPr/>
        </p:nvSpPr>
        <p:spPr>
          <a:xfrm>
            <a:off x="7976464" y="5321828"/>
            <a:ext cx="277669" cy="281775"/>
          </a:xfrm>
          <a:prstGeom prst="donut">
            <a:avLst>
              <a:gd name="adj" fmla="val 24366"/>
            </a:avLst>
          </a:prstGeom>
          <a:solidFill>
            <a:srgbClr val="FF5050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Circle: Hollow 33">
            <a:extLst>
              <a:ext uri="{FF2B5EF4-FFF2-40B4-BE49-F238E27FC236}">
                <a16:creationId xmlns:a16="http://schemas.microsoft.com/office/drawing/2014/main" id="{EB5D695E-7FAE-5CF8-DE28-925D09FC8FCE}"/>
              </a:ext>
            </a:extLst>
          </p:cNvPr>
          <p:cNvSpPr/>
          <p:nvPr/>
        </p:nvSpPr>
        <p:spPr>
          <a:xfrm>
            <a:off x="8381276" y="5700422"/>
            <a:ext cx="277669" cy="281775"/>
          </a:xfrm>
          <a:prstGeom prst="donut">
            <a:avLst>
              <a:gd name="adj" fmla="val 24366"/>
            </a:avLst>
          </a:prstGeom>
          <a:solidFill>
            <a:srgbClr val="FF5050"/>
          </a:solidFill>
          <a:ln w="349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Google Shape;116;p5">
            <a:extLst>
              <a:ext uri="{FF2B5EF4-FFF2-40B4-BE49-F238E27FC236}">
                <a16:creationId xmlns:a16="http://schemas.microsoft.com/office/drawing/2014/main" id="{444D26E1-09CF-A9BA-4A8C-4EFFC6477056}"/>
              </a:ext>
            </a:extLst>
          </p:cNvPr>
          <p:cNvSpPr txBox="1">
            <a:spLocks/>
          </p:cNvSpPr>
          <p:nvPr/>
        </p:nvSpPr>
        <p:spPr>
          <a:xfrm>
            <a:off x="307860" y="1219251"/>
            <a:ext cx="676718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4400" b="1" i="0" u="none" strike="noStrike" cap="none">
                <a:solidFill>
                  <a:srgbClr val="98266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3200" dirty="0">
                <a:solidFill>
                  <a:schemeClr val="tx1"/>
                </a:solidFill>
                <a:latin typeface="Univers Condensed" panose="020B0506020202050204" pitchFamily="34" charset="0"/>
              </a:rPr>
              <a:t>2. Cross-HBM Channel </a:t>
            </a:r>
            <a:r>
              <a:rPr lang="en-US" sz="3200" dirty="0" err="1">
                <a:solidFill>
                  <a:schemeClr val="tx1"/>
                </a:solidFill>
                <a:latin typeface="Univers Condensed" panose="020B0506020202050204" pitchFamily="34" charset="0"/>
              </a:rPr>
              <a:t>OoO</a:t>
            </a:r>
            <a:r>
              <a:rPr lang="en-US" sz="3200" dirty="0">
                <a:solidFill>
                  <a:schemeClr val="tx1"/>
                </a:solidFill>
                <a:latin typeface="Univers Condensed" panose="020B0506020202050204" pitchFamily="34" charset="0"/>
              </a:rPr>
              <a:t> Scheduling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6DD8D0E-71E0-D34B-A866-8B52F66011EC}"/>
              </a:ext>
            </a:extLst>
          </p:cNvPr>
          <p:cNvGrpSpPr/>
          <p:nvPr/>
        </p:nvGrpSpPr>
        <p:grpSpPr>
          <a:xfrm>
            <a:off x="387350" y="2430203"/>
            <a:ext cx="2705100" cy="2209800"/>
            <a:chOff x="387350" y="2430203"/>
            <a:chExt cx="2705100" cy="2209800"/>
          </a:xfrm>
        </p:grpSpPr>
        <p:pic>
          <p:nvPicPr>
            <p:cNvPr id="40" name="Picture 39" descr="Red numbers on a black background&#10;&#10;AI-generated content may be incorrect.">
              <a:extLst>
                <a:ext uri="{FF2B5EF4-FFF2-40B4-BE49-F238E27FC236}">
                  <a16:creationId xmlns:a16="http://schemas.microsoft.com/office/drawing/2014/main" id="{97413895-5FD0-8DC1-269D-70E0E64AB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350" y="2430203"/>
              <a:ext cx="2705100" cy="2209800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8256191-9A42-021D-792E-CB95F1607B62}"/>
                </a:ext>
              </a:extLst>
            </p:cNvPr>
            <p:cNvSpPr/>
            <p:nvPr/>
          </p:nvSpPr>
          <p:spPr>
            <a:xfrm>
              <a:off x="1231105" y="4141957"/>
              <a:ext cx="285751" cy="2562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4993C88-61D9-5D09-5E43-56439FCC5DB9}"/>
                </a:ext>
              </a:extLst>
            </p:cNvPr>
            <p:cNvSpPr txBox="1"/>
            <p:nvPr/>
          </p:nvSpPr>
          <p:spPr>
            <a:xfrm>
              <a:off x="1213519" y="4039230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Univers Condensed" panose="020B0506020202050204" pitchFamily="34" charset="0"/>
                </a:rPr>
                <a:t>0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397A9F1-D31D-3BBD-63AC-2638FD30F77A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5D6490-C138-E0BD-CFE6-C4C25E147055}"/>
              </a:ext>
            </a:extLst>
          </p:cNvPr>
          <p:cNvGrpSpPr/>
          <p:nvPr/>
        </p:nvGrpSpPr>
        <p:grpSpPr>
          <a:xfrm>
            <a:off x="8277114" y="891225"/>
            <a:ext cx="3537146" cy="376919"/>
            <a:chOff x="8277114" y="891225"/>
            <a:chExt cx="3537146" cy="376919"/>
          </a:xfrm>
        </p:grpSpPr>
        <p:pic>
          <p:nvPicPr>
            <p:cNvPr id="4" name="Picture 3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E98EA1C5-61D2-E706-CE29-B8DC12F21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30849" b="38554"/>
            <a:stretch>
              <a:fillRect/>
            </a:stretch>
          </p:blipFill>
          <p:spPr>
            <a:xfrm>
              <a:off x="8277114" y="891225"/>
              <a:ext cx="2590800" cy="376919"/>
            </a:xfrm>
            <a:prstGeom prst="rect">
              <a:avLst/>
            </a:prstGeom>
          </p:spPr>
        </p:pic>
        <p:pic>
          <p:nvPicPr>
            <p:cNvPr id="5" name="Picture 4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C52DC50A-B8A7-C3AB-73E9-AE53686FF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822" t="61323" r="56940" b="8104"/>
            <a:stretch>
              <a:fillRect/>
            </a:stretch>
          </p:blipFill>
          <p:spPr>
            <a:xfrm>
              <a:off x="10797682" y="891366"/>
              <a:ext cx="1016578" cy="376635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EB795C0-2396-FFA1-30CD-3F3DD5AB2EA8}"/>
              </a:ext>
            </a:extLst>
          </p:cNvPr>
          <p:cNvGrpSpPr/>
          <p:nvPr/>
        </p:nvGrpSpPr>
        <p:grpSpPr>
          <a:xfrm>
            <a:off x="41637" y="6550223"/>
            <a:ext cx="3006495" cy="307777"/>
            <a:chOff x="41637" y="6550223"/>
            <a:chExt cx="3006495" cy="30777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3DA2D6-9BEC-B246-4AD3-7A44C35C053D}"/>
                </a:ext>
              </a:extLst>
            </p:cNvPr>
            <p:cNvSpPr txBox="1"/>
            <p:nvPr/>
          </p:nvSpPr>
          <p:spPr>
            <a:xfrm>
              <a:off x="87500" y="6550223"/>
              <a:ext cx="296063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Univers Condensed" panose="020B0506020202050204" pitchFamily="34" charset="0"/>
                </a:rPr>
                <a:t> U. Bakhtiar </a:t>
              </a:r>
              <a:r>
                <a:rPr lang="en-US" sz="1400" dirty="0" err="1">
                  <a:effectLst/>
                  <a:latin typeface="Univers Condensed" panose="020B0506020202050204" pitchFamily="34" charset="0"/>
                </a:rPr>
                <a:t>et.al</a:t>
              </a:r>
              <a:r>
                <a:rPr lang="en-US" sz="1400" dirty="0">
                  <a:effectLst/>
                  <a:latin typeface="Univers Condensed" panose="020B0506020202050204" pitchFamily="34" charset="0"/>
                </a:rPr>
                <a:t> Chason MICRO 2025</a:t>
              </a:r>
              <a:endParaRPr lang="en-US" sz="4000" dirty="0">
                <a:effectLst/>
                <a:latin typeface="Univers Condensed" panose="020B0506020202050204" pitchFamily="34" charset="0"/>
              </a:endParaRPr>
            </a:p>
          </p:txBody>
        </p:sp>
        <p:sp>
          <p:nvSpPr>
            <p:cNvPr id="8" name="5-Point Star 7">
              <a:extLst>
                <a:ext uri="{FF2B5EF4-FFF2-40B4-BE49-F238E27FC236}">
                  <a16:creationId xmlns:a16="http://schemas.microsoft.com/office/drawing/2014/main" id="{C936D6D0-6B33-1B80-4267-3695748039E1}"/>
                </a:ext>
              </a:extLst>
            </p:cNvPr>
            <p:cNvSpPr/>
            <p:nvPr/>
          </p:nvSpPr>
          <p:spPr>
            <a:xfrm>
              <a:off x="41637" y="6603104"/>
              <a:ext cx="149324" cy="138198"/>
            </a:xfrm>
            <a:prstGeom prst="star5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5-Point Star 9">
            <a:extLst>
              <a:ext uri="{FF2B5EF4-FFF2-40B4-BE49-F238E27FC236}">
                <a16:creationId xmlns:a16="http://schemas.microsoft.com/office/drawing/2014/main" id="{6BC9DFBF-2DF5-F151-29AA-521C65AC25B1}"/>
              </a:ext>
            </a:extLst>
          </p:cNvPr>
          <p:cNvSpPr/>
          <p:nvPr/>
        </p:nvSpPr>
        <p:spPr>
          <a:xfrm>
            <a:off x="6793739" y="1613459"/>
            <a:ext cx="149324" cy="138198"/>
          </a:xfrm>
          <a:prstGeom prst="star5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9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33CFF525-2B33-DD8E-3EAF-F591FEDD2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41630C49-38B6-9FAA-55FC-B857B908D5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just"/>
            <a:r>
              <a:rPr lang="en-US" dirty="0">
                <a:latin typeface="Univers Condensed" panose="020B0506020202050204" pitchFamily="34" charset="0"/>
              </a:rPr>
              <a:t>Poor Data Scheduling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70B4260-423E-4533-3686-8164801059F3}"/>
              </a:ext>
            </a:extLst>
          </p:cNvPr>
          <p:cNvGrpSpPr/>
          <p:nvPr/>
        </p:nvGrpSpPr>
        <p:grpSpPr>
          <a:xfrm>
            <a:off x="1899377" y="2777948"/>
            <a:ext cx="7854222" cy="2938729"/>
            <a:chOff x="16119" y="6577724"/>
            <a:chExt cx="5426060" cy="1874896"/>
          </a:xfrm>
        </p:grpSpPr>
        <p:graphicFrame>
          <p:nvGraphicFramePr>
            <p:cNvPr id="3" name="Chart 2">
              <a:extLst>
                <a:ext uri="{FF2B5EF4-FFF2-40B4-BE49-F238E27FC236}">
                  <a16:creationId xmlns:a16="http://schemas.microsoft.com/office/drawing/2014/main" id="{FF890CCA-BD68-D11C-8DF3-A088E5B075F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29950411"/>
                </p:ext>
              </p:extLst>
            </p:nvPr>
          </p:nvGraphicFramePr>
          <p:xfrm>
            <a:off x="251571" y="6654716"/>
            <a:ext cx="5190608" cy="164101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FF55E64-5595-656B-8F63-566B9E2CBCC2}"/>
                </a:ext>
              </a:extLst>
            </p:cNvPr>
            <p:cNvSpPr txBox="1"/>
            <p:nvPr/>
          </p:nvSpPr>
          <p:spPr>
            <a:xfrm>
              <a:off x="1962009" y="8197352"/>
              <a:ext cx="2144257" cy="2552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latin typeface="Univers Condensed" panose="020B0506020202050204" pitchFamily="34" charset="0"/>
                </a:rPr>
                <a:t>36 SuiteSparse Workloads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92A5E8E-1AA5-9BEE-C4AD-3152DEE18B40}"/>
                </a:ext>
              </a:extLst>
            </p:cNvPr>
            <p:cNvSpPr txBox="1"/>
            <p:nvPr/>
          </p:nvSpPr>
          <p:spPr>
            <a:xfrm rot="16200000">
              <a:off x="-735084" y="7328927"/>
              <a:ext cx="1794998" cy="2925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Univers Condensed" panose="020B0506020202050204" pitchFamily="34" charset="0"/>
                </a:rPr>
                <a:t>PE Underutilization (%)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0D2AF41-E185-8430-CE64-E512369E962F}"/>
              </a:ext>
            </a:extLst>
          </p:cNvPr>
          <p:cNvSpPr txBox="1"/>
          <p:nvPr/>
        </p:nvSpPr>
        <p:spPr>
          <a:xfrm>
            <a:off x="487273" y="1664522"/>
            <a:ext cx="11309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Both PE-aware and CrHCS results in considerable number of stalls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This results in high PE underutilization, resulting in sub-optimal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2EBE0-5BD8-F235-7EF5-949371F29F18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48832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D55C7766-168F-4BFD-8606-A2A0E98F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E619192F-0DB1-A77D-AEFA-04604482B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Single Workload Execution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EEF82-5D4F-0770-02EE-028E3445918C}"/>
              </a:ext>
            </a:extLst>
          </p:cNvPr>
          <p:cNvSpPr txBox="1"/>
          <p:nvPr/>
        </p:nvSpPr>
        <p:spPr>
          <a:xfrm>
            <a:off x="487273" y="1664522"/>
            <a:ext cx="1130950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SOTA sparse streaming accelerators follows a single workload execution model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Multiple workloads on a single accelerator must be executed sequentially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Deploying multiple accelerators for concurrent execution increase the system cost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latin typeface="Univers Condensed" panose="020B050602020205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5E0DC5-3B58-4266-FDAF-F10ACB33A75B}"/>
              </a:ext>
            </a:extLst>
          </p:cNvPr>
          <p:cNvSpPr/>
          <p:nvPr/>
        </p:nvSpPr>
        <p:spPr>
          <a:xfrm>
            <a:off x="1379401" y="3733941"/>
            <a:ext cx="4660900" cy="3007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F4F8E1-3D52-587A-F6F3-05B00228D3E6}"/>
              </a:ext>
            </a:extLst>
          </p:cNvPr>
          <p:cNvSpPr/>
          <p:nvPr/>
        </p:nvSpPr>
        <p:spPr>
          <a:xfrm>
            <a:off x="1379401" y="4034713"/>
            <a:ext cx="4660900" cy="1701690"/>
          </a:xfrm>
          <a:prstGeom prst="rect">
            <a:avLst/>
          </a:prstGeom>
          <a:solidFill>
            <a:srgbClr val="FBD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98316D-9F02-59E6-C700-FBA985D15555}"/>
                  </a:ext>
                </a:extLst>
              </p:cNvPr>
              <p:cNvSpPr txBox="1"/>
              <p:nvPr/>
            </p:nvSpPr>
            <p:spPr>
              <a:xfrm>
                <a:off x="1470495" y="4510780"/>
                <a:ext cx="110030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𝑀𝑎𝑡𝑟𝑖𝑥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698316D-9F02-59E6-C700-FBA985D15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0495" y="4510780"/>
                <a:ext cx="1100301" cy="307777"/>
              </a:xfrm>
              <a:prstGeom prst="rect">
                <a:avLst/>
              </a:prstGeom>
              <a:blipFill>
                <a:blip r:embed="rId3"/>
                <a:stretch>
                  <a:fillRect l="-3867" r="-442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2B3E4C-E40D-C91E-7600-8826667DD17E}"/>
              </a:ext>
            </a:extLst>
          </p:cNvPr>
          <p:cNvCxnSpPr>
            <a:cxnSpLocks/>
          </p:cNvCxnSpPr>
          <p:nvPr/>
        </p:nvCxnSpPr>
        <p:spPr>
          <a:xfrm>
            <a:off x="2573201" y="4680180"/>
            <a:ext cx="36195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red and gold electronic device&#10;&#10;AI-generated content may be incorrect.">
            <a:extLst>
              <a:ext uri="{FF2B5EF4-FFF2-40B4-BE49-F238E27FC236}">
                <a16:creationId xmlns:a16="http://schemas.microsoft.com/office/drawing/2014/main" id="{8B440260-C035-1792-8EFC-91A06C136E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049" y="4092377"/>
            <a:ext cx="2452591" cy="1378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657712-27A3-0573-1F8A-90E3F5FDABD3}"/>
              </a:ext>
            </a:extLst>
          </p:cNvPr>
          <p:cNvSpPr txBox="1"/>
          <p:nvPr/>
        </p:nvSpPr>
        <p:spPr>
          <a:xfrm>
            <a:off x="2627717" y="3665894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Sparse Accelerator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46CC7-B4F7-2C89-59BE-6C1143671B67}"/>
              </a:ext>
            </a:extLst>
          </p:cNvPr>
          <p:cNvSpPr txBox="1"/>
          <p:nvPr/>
        </p:nvSpPr>
        <p:spPr>
          <a:xfrm>
            <a:off x="1640077" y="3669186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FDDA14-A50A-93C5-2771-5F48EA65188B}"/>
                  </a:ext>
                </a:extLst>
              </p:cNvPr>
              <p:cNvSpPr txBox="1"/>
              <p:nvPr/>
            </p:nvSpPr>
            <p:spPr>
              <a:xfrm>
                <a:off x="4805821" y="4520305"/>
                <a:ext cx="120988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𝑉𝑒𝑐𝑡𝑜𝑟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FDDA14-A50A-93C5-2771-5F48EA651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5821" y="4520305"/>
                <a:ext cx="1209883" cy="307777"/>
              </a:xfrm>
              <a:prstGeom prst="rect">
                <a:avLst/>
              </a:prstGeom>
              <a:blipFill>
                <a:blip r:embed="rId5"/>
                <a:stretch>
                  <a:fillRect l="-3518" r="-5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11DE336-345B-B413-DD9D-B4BFBF39BFF4}"/>
              </a:ext>
            </a:extLst>
          </p:cNvPr>
          <p:cNvSpPr txBox="1"/>
          <p:nvPr/>
        </p:nvSpPr>
        <p:spPr>
          <a:xfrm>
            <a:off x="5023615" y="3658116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C66658-CA7C-C0E2-31A0-151EC9A40BAE}"/>
                  </a:ext>
                </a:extLst>
              </p:cNvPr>
              <p:cNvSpPr txBox="1"/>
              <p:nvPr/>
            </p:nvSpPr>
            <p:spPr>
              <a:xfrm>
                <a:off x="2558801" y="5380913"/>
                <a:ext cx="23278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𝑵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>
                    <a:latin typeface="Univers Condensed" panose="020B0506020202050204" pitchFamily="34" charset="0"/>
                  </a:rPr>
                  <a:t> Underutilization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C66658-CA7C-C0E2-31A0-151EC9A40B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801" y="5380913"/>
                <a:ext cx="2327881" cy="400110"/>
              </a:xfrm>
              <a:prstGeom prst="rect">
                <a:avLst/>
              </a:prstGeom>
              <a:blipFill>
                <a:blip r:embed="rId6"/>
                <a:stretch>
                  <a:fillRect l="-262" t="-9231" r="-2356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D54279F3-4A11-6D29-7D03-B1A1EE2B7CDF}"/>
              </a:ext>
            </a:extLst>
          </p:cNvPr>
          <p:cNvSpPr/>
          <p:nvPr/>
        </p:nvSpPr>
        <p:spPr>
          <a:xfrm>
            <a:off x="782976" y="4034711"/>
            <a:ext cx="586342" cy="1701690"/>
          </a:xfrm>
          <a:prstGeom prst="rect">
            <a:avLst/>
          </a:prstGeom>
          <a:solidFill>
            <a:srgbClr val="FBD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591E88-A70A-FE28-DA97-8D6CE03F2FD2}"/>
              </a:ext>
            </a:extLst>
          </p:cNvPr>
          <p:cNvSpPr txBox="1"/>
          <p:nvPr/>
        </p:nvSpPr>
        <p:spPr>
          <a:xfrm rot="16200000">
            <a:off x="173903" y="4716894"/>
            <a:ext cx="1764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Univers Condensed" panose="020B0506020202050204" pitchFamily="34" charset="0"/>
              </a:rPr>
              <a:t>Single-Tenant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DAEDF3-E664-2898-3B00-43E6733F0303}"/>
              </a:ext>
            </a:extLst>
          </p:cNvPr>
          <p:cNvCxnSpPr>
            <a:cxnSpLocks/>
          </p:cNvCxnSpPr>
          <p:nvPr/>
        </p:nvCxnSpPr>
        <p:spPr>
          <a:xfrm>
            <a:off x="4404397" y="4662993"/>
            <a:ext cx="36195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F5C4463-EFA1-3C91-85B9-E31E06B497E6}"/>
              </a:ext>
            </a:extLst>
          </p:cNvPr>
          <p:cNvSpPr/>
          <p:nvPr/>
        </p:nvSpPr>
        <p:spPr>
          <a:xfrm>
            <a:off x="6096000" y="3733940"/>
            <a:ext cx="4660900" cy="3007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A226F4-E709-3914-5963-A018ED510EB5}"/>
              </a:ext>
            </a:extLst>
          </p:cNvPr>
          <p:cNvSpPr/>
          <p:nvPr/>
        </p:nvSpPr>
        <p:spPr>
          <a:xfrm>
            <a:off x="6096000" y="4034712"/>
            <a:ext cx="4660900" cy="1701690"/>
          </a:xfrm>
          <a:prstGeom prst="rect">
            <a:avLst/>
          </a:prstGeom>
          <a:solidFill>
            <a:srgbClr val="FBD7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BD4A1C-2EE8-051D-5535-5F7554D4F305}"/>
                  </a:ext>
                </a:extLst>
              </p:cNvPr>
              <p:cNvSpPr txBox="1"/>
              <p:nvPr/>
            </p:nvSpPr>
            <p:spPr>
              <a:xfrm>
                <a:off x="6132301" y="4504842"/>
                <a:ext cx="111107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𝑀𝑎𝑡𝑟𝑖𝑥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3BD4A1C-2EE8-051D-5535-5F7554D4F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2301" y="4504842"/>
                <a:ext cx="1111073" cy="307777"/>
              </a:xfrm>
              <a:prstGeom prst="rect">
                <a:avLst/>
              </a:prstGeom>
              <a:blipFill>
                <a:blip r:embed="rId7"/>
                <a:stretch>
                  <a:fillRect l="-4945" r="-3846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61EB656-501C-AFE3-4FBB-2A51C7219544}"/>
              </a:ext>
            </a:extLst>
          </p:cNvPr>
          <p:cNvCxnSpPr>
            <a:cxnSpLocks/>
          </p:cNvCxnSpPr>
          <p:nvPr/>
        </p:nvCxnSpPr>
        <p:spPr>
          <a:xfrm>
            <a:off x="7289800" y="4680179"/>
            <a:ext cx="36195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4" name="Picture 23" descr="A red and gold electronic device&#10;&#10;AI-generated content may be incorrect.">
            <a:extLst>
              <a:ext uri="{FF2B5EF4-FFF2-40B4-BE49-F238E27FC236}">
                <a16:creationId xmlns:a16="http://schemas.microsoft.com/office/drawing/2014/main" id="{84B6F618-98B3-F0F2-82E6-7F8C8D688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648" y="4092376"/>
            <a:ext cx="2452591" cy="13783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EF220F-BEF9-BE0E-4576-DD237154FDF7}"/>
                  </a:ext>
                </a:extLst>
              </p:cNvPr>
              <p:cNvSpPr txBox="1"/>
              <p:nvPr/>
            </p:nvSpPr>
            <p:spPr>
              <a:xfrm>
                <a:off x="9482946" y="4509103"/>
                <a:ext cx="122905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𝑉𝑒𝑐𝑡𝑜𝑟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8EF220F-BEF9-BE0E-4576-DD237154F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2946" y="4509103"/>
                <a:ext cx="1229054" cy="307777"/>
              </a:xfrm>
              <a:prstGeom prst="rect">
                <a:avLst/>
              </a:prstGeom>
              <a:blipFill>
                <a:blip r:embed="rId8"/>
                <a:stretch>
                  <a:fillRect l="-3980" r="-49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B83DFA-4365-2626-ED3A-78B7693E54B4}"/>
                  </a:ext>
                </a:extLst>
              </p:cNvPr>
              <p:cNvSpPr txBox="1"/>
              <p:nvPr/>
            </p:nvSpPr>
            <p:spPr>
              <a:xfrm>
                <a:off x="7285483" y="5367070"/>
                <a:ext cx="236635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000" b="1" dirty="0">
                    <a:latin typeface="Univers Condensed" panose="020B0506020202050204" pitchFamily="34" charset="0"/>
                  </a:rPr>
                  <a:t> Underutilization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5B83DFA-4365-2626-ED3A-78B7693E5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483" y="5367070"/>
                <a:ext cx="2366353" cy="400110"/>
              </a:xfrm>
              <a:prstGeom prst="rect">
                <a:avLst/>
              </a:prstGeom>
              <a:blipFill>
                <a:blip r:embed="rId9"/>
                <a:stretch>
                  <a:fillRect t="-7576" r="-2577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672B4BB-A4D1-2D12-8A78-6BEDC4E5FA65}"/>
              </a:ext>
            </a:extLst>
          </p:cNvPr>
          <p:cNvCxnSpPr>
            <a:cxnSpLocks/>
          </p:cNvCxnSpPr>
          <p:nvPr/>
        </p:nvCxnSpPr>
        <p:spPr>
          <a:xfrm>
            <a:off x="9120996" y="4662992"/>
            <a:ext cx="361950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AD9D7A6-90F3-620B-FEC5-43F4DA4642F2}"/>
              </a:ext>
            </a:extLst>
          </p:cNvPr>
          <p:cNvCxnSpPr/>
          <p:nvPr/>
        </p:nvCxnSpPr>
        <p:spPr>
          <a:xfrm>
            <a:off x="1379401" y="3627281"/>
            <a:ext cx="46609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BDD3BD0-273A-E66C-8A00-671131CAB5B6}"/>
              </a:ext>
            </a:extLst>
          </p:cNvPr>
          <p:cNvCxnSpPr/>
          <p:nvPr/>
        </p:nvCxnSpPr>
        <p:spPr>
          <a:xfrm>
            <a:off x="6096000" y="3627281"/>
            <a:ext cx="466090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6174AB-E92B-8C13-E492-790226842FAC}"/>
                  </a:ext>
                </a:extLst>
              </p:cNvPr>
              <p:cNvSpPr txBox="1"/>
              <p:nvPr/>
            </p:nvSpPr>
            <p:spPr>
              <a:xfrm>
                <a:off x="2904458" y="3165616"/>
                <a:ext cx="143334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𝑻𝒊𝒎𝒆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86174AB-E92B-8C13-E492-790226842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458" y="3165616"/>
                <a:ext cx="1433341" cy="461665"/>
              </a:xfrm>
              <a:prstGeom prst="rect">
                <a:avLst/>
              </a:prstGeom>
              <a:blipFill>
                <a:blip r:embed="rId10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90342E-1176-BA74-89E3-D490D181DA82}"/>
                  </a:ext>
                </a:extLst>
              </p:cNvPr>
              <p:cNvSpPr txBox="1"/>
              <p:nvPr/>
            </p:nvSpPr>
            <p:spPr>
              <a:xfrm>
                <a:off x="7854202" y="3143160"/>
                <a:ext cx="14477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𝑻𝒊𝒎𝒆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m:oMathPara>
                </a14:m>
                <a:endParaRPr lang="en-US" sz="2400" b="1" dirty="0">
                  <a:latin typeface="Univers Condensed" panose="020B050602020205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90342E-1176-BA74-89E3-D490D181D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202" y="3143160"/>
                <a:ext cx="1447769" cy="461665"/>
              </a:xfrm>
              <a:prstGeom prst="rect">
                <a:avLst/>
              </a:prstGeom>
              <a:blipFill>
                <a:blip r:embed="rId11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42A809E-2D0A-7386-B008-1F9257D38019}"/>
              </a:ext>
            </a:extLst>
          </p:cNvPr>
          <p:cNvSpPr txBox="1"/>
          <p:nvPr/>
        </p:nvSpPr>
        <p:spPr>
          <a:xfrm>
            <a:off x="7351035" y="3665894"/>
            <a:ext cx="22060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Sparse Accelerator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6FA284-B4FE-F48B-1BB5-A6F58AC90DD0}"/>
              </a:ext>
            </a:extLst>
          </p:cNvPr>
          <p:cNvSpPr txBox="1"/>
          <p:nvPr/>
        </p:nvSpPr>
        <p:spPr>
          <a:xfrm>
            <a:off x="6363395" y="3669186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Input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9633BA-BC90-ED61-D674-B12BEC03BAF4}"/>
              </a:ext>
            </a:extLst>
          </p:cNvPr>
          <p:cNvSpPr txBox="1"/>
          <p:nvPr/>
        </p:nvSpPr>
        <p:spPr>
          <a:xfrm>
            <a:off x="9746933" y="3658116"/>
            <a:ext cx="8675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BB9141-FF75-F12F-4106-90374549CD21}"/>
                  </a:ext>
                </a:extLst>
              </p:cNvPr>
              <p:cNvSpPr txBox="1"/>
              <p:nvPr/>
            </p:nvSpPr>
            <p:spPr>
              <a:xfrm>
                <a:off x="4521423" y="5924095"/>
                <a:ext cx="303775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𝑻𝒐𝒕𝒂𝒍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𝑻𝒊𝒎𝒆</m:t>
                    </m:r>
                  </m:oMath>
                </a14:m>
                <a:r>
                  <a:rPr lang="en-US" sz="2000" b="1" dirty="0">
                    <a:latin typeface="Univers Condensed" panose="020B050602020205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latin typeface="Univers Condensed" panose="020B0506020202050204" pitchFamily="34" charset="0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5BB9141-FF75-F12F-4106-90374549C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423" y="5924095"/>
                <a:ext cx="3037755" cy="400110"/>
              </a:xfrm>
              <a:prstGeom prst="rect">
                <a:avLst/>
              </a:prstGeom>
              <a:blipFill>
                <a:blip r:embed="rId12"/>
                <a:stretch>
                  <a:fillRect l="-201" r="-201"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C293257-EAF6-5B94-A28F-D759580EB2CE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27761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E0F2FFBD-19A0-1D53-89BE-4BB6F442B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A6A6E47-0DF7-BCB1-0698-A0BF36EE74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4725042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/>
            <a:r>
              <a:rPr lang="en-US" sz="4800" dirty="0">
                <a:latin typeface="Univers Condensed" panose="020B0506020202050204" pitchFamily="34" charset="0"/>
              </a:rPr>
              <a:t>OUR WORK</a:t>
            </a:r>
          </a:p>
        </p:txBody>
      </p:sp>
    </p:spTree>
    <p:extLst>
      <p:ext uri="{BB962C8B-B14F-4D97-AF65-F5344CB8AC3E}">
        <p14:creationId xmlns:p14="http://schemas.microsoft.com/office/powerpoint/2010/main" val="560643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57BF224B-7D83-AA59-A175-BBF100937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FF526027-9663-0335-4CB6-C35E02F93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Main Goal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EC9858-1007-1C2D-F754-252443DD796D}"/>
              </a:ext>
            </a:extLst>
          </p:cNvPr>
          <p:cNvSpPr/>
          <p:nvPr/>
        </p:nvSpPr>
        <p:spPr>
          <a:xfrm>
            <a:off x="2959351" y="3886931"/>
            <a:ext cx="5491480" cy="30077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F56394-2DFE-619C-6E7F-3AE0C44C1C73}"/>
              </a:ext>
            </a:extLst>
          </p:cNvPr>
          <p:cNvSpPr/>
          <p:nvPr/>
        </p:nvSpPr>
        <p:spPr>
          <a:xfrm>
            <a:off x="2959351" y="4187703"/>
            <a:ext cx="5491480" cy="170169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D807D1-16BD-949D-9962-2A1FBA0721F0}"/>
                  </a:ext>
                </a:extLst>
              </p:cNvPr>
              <p:cNvSpPr txBox="1"/>
              <p:nvPr/>
            </p:nvSpPr>
            <p:spPr>
              <a:xfrm>
                <a:off x="3099642" y="4485943"/>
                <a:ext cx="97584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𝑀𝑎𝑡𝑟𝑖𝑥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AD807D1-16BD-949D-9962-2A1FBA072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9642" y="4485943"/>
                <a:ext cx="975845" cy="307777"/>
              </a:xfrm>
              <a:prstGeom prst="rect">
                <a:avLst/>
              </a:prstGeom>
              <a:blipFill>
                <a:blip r:embed="rId3"/>
                <a:stretch>
                  <a:fillRect l="-8696" r="-1366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D02FCF-FDFE-ACF7-61C8-D12089E62B93}"/>
              </a:ext>
            </a:extLst>
          </p:cNvPr>
          <p:cNvCxnSpPr>
            <a:cxnSpLocks/>
          </p:cNvCxnSpPr>
          <p:nvPr/>
        </p:nvCxnSpPr>
        <p:spPr>
          <a:xfrm>
            <a:off x="4221731" y="4655327"/>
            <a:ext cx="293370" cy="215143"/>
          </a:xfrm>
          <a:prstGeom prst="straightConnector1">
            <a:avLst/>
          </a:prstGeom>
          <a:ln w="190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1" name="Picture 10" descr="A red and gold electronic device&#10;&#10;AI-generated content may be incorrect.">
            <a:extLst>
              <a:ext uri="{FF2B5EF4-FFF2-40B4-BE49-F238E27FC236}">
                <a16:creationId xmlns:a16="http://schemas.microsoft.com/office/drawing/2014/main" id="{1AEDAE6C-8467-3A37-B0C2-C77AAB1D0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271" y="4283466"/>
            <a:ext cx="2452591" cy="13783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E7F671-864C-CA98-B380-EFA0FC2B6849}"/>
              </a:ext>
            </a:extLst>
          </p:cNvPr>
          <p:cNvSpPr txBox="1"/>
          <p:nvPr/>
        </p:nvSpPr>
        <p:spPr>
          <a:xfrm>
            <a:off x="4597352" y="3828435"/>
            <a:ext cx="232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Univers Condensed" panose="020B0506020202050204" pitchFamily="34" charset="0"/>
              </a:rPr>
              <a:t>Sparse Accelerator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75BCE-BD1E-D357-A7FB-00DBA7E17775}"/>
              </a:ext>
            </a:extLst>
          </p:cNvPr>
          <p:cNvSpPr txBox="1"/>
          <p:nvPr/>
        </p:nvSpPr>
        <p:spPr>
          <a:xfrm>
            <a:off x="3217766" y="3824661"/>
            <a:ext cx="831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Input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F0508C-445E-EE4B-894B-9FD85575A47F}"/>
                  </a:ext>
                </a:extLst>
              </p:cNvPr>
              <p:cNvSpPr txBox="1"/>
              <p:nvPr/>
            </p:nvSpPr>
            <p:spPr>
              <a:xfrm>
                <a:off x="7138463" y="4512155"/>
                <a:ext cx="1074974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𝑉𝑒𝑐𝑡𝑜𝑟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BF0508C-445E-EE4B-894B-9FD85575A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8463" y="4512155"/>
                <a:ext cx="1074974" cy="307777"/>
              </a:xfrm>
              <a:prstGeom prst="rect">
                <a:avLst/>
              </a:prstGeom>
              <a:blipFill>
                <a:blip r:embed="rId5"/>
                <a:stretch>
                  <a:fillRect l="-7955" r="-9659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8581E703-146B-8CD4-4A2B-FF91C1A35B25}"/>
              </a:ext>
            </a:extLst>
          </p:cNvPr>
          <p:cNvSpPr txBox="1"/>
          <p:nvPr/>
        </p:nvSpPr>
        <p:spPr>
          <a:xfrm>
            <a:off x="7446804" y="3828995"/>
            <a:ext cx="928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Output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306319-0CC9-638E-FDB6-128F349ED844}"/>
                  </a:ext>
                </a:extLst>
              </p:cNvPr>
              <p:cNvSpPr txBox="1"/>
              <p:nvPr/>
            </p:nvSpPr>
            <p:spPr>
              <a:xfrm>
                <a:off x="4089686" y="5518373"/>
                <a:ext cx="366210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Univers Condensed" panose="020B0506020202050204" pitchFamily="34" charset="0"/>
                  </a:rPr>
                  <a:t>Underutilization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000" b="1" dirty="0">
                  <a:latin typeface="Univers Condensed" panose="020B0506020202050204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E306319-0CC9-638E-FDB6-128F349ED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686" y="5518373"/>
                <a:ext cx="3662105" cy="400110"/>
              </a:xfrm>
              <a:prstGeom prst="rect">
                <a:avLst/>
              </a:prstGeom>
              <a:blipFill>
                <a:blip r:embed="rId6"/>
                <a:stretch>
                  <a:fillRect l="-1830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111D34F4-8CEE-58C3-054E-B84F09436A20}"/>
              </a:ext>
            </a:extLst>
          </p:cNvPr>
          <p:cNvSpPr/>
          <p:nvPr/>
        </p:nvSpPr>
        <p:spPr>
          <a:xfrm>
            <a:off x="2362926" y="4190084"/>
            <a:ext cx="586342" cy="169930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2A9715-A409-0F4E-5C10-278A00BEB347}"/>
              </a:ext>
            </a:extLst>
          </p:cNvPr>
          <p:cNvSpPr txBox="1"/>
          <p:nvPr/>
        </p:nvSpPr>
        <p:spPr>
          <a:xfrm rot="16200000">
            <a:off x="1787542" y="4838492"/>
            <a:ext cx="1701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Condensed" panose="020B0506020202050204" pitchFamily="34" charset="0"/>
              </a:rPr>
              <a:t>Multi-Tenancy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4282EDE-07DD-2D03-5BCD-2E3550303A29}"/>
              </a:ext>
            </a:extLst>
          </p:cNvPr>
          <p:cNvCxnSpPr>
            <a:cxnSpLocks/>
          </p:cNvCxnSpPr>
          <p:nvPr/>
        </p:nvCxnSpPr>
        <p:spPr>
          <a:xfrm flipV="1">
            <a:off x="2974842" y="3650329"/>
            <a:ext cx="1605494" cy="11338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8F168F-32D7-4F3C-BB65-DD368FA0C07C}"/>
              </a:ext>
            </a:extLst>
          </p:cNvPr>
          <p:cNvCxnSpPr>
            <a:cxnSpLocks/>
          </p:cNvCxnSpPr>
          <p:nvPr/>
        </p:nvCxnSpPr>
        <p:spPr>
          <a:xfrm>
            <a:off x="6792862" y="3655998"/>
            <a:ext cx="1657969" cy="0"/>
          </a:xfrm>
          <a:prstGeom prst="straightConnector1">
            <a:avLst/>
          </a:prstGeom>
          <a:ln w="25400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B387DE-A4B5-B8C0-8584-8ACAFAE84317}"/>
                  </a:ext>
                </a:extLst>
              </p:cNvPr>
              <p:cNvSpPr txBox="1"/>
              <p:nvPr/>
            </p:nvSpPr>
            <p:spPr>
              <a:xfrm>
                <a:off x="4580336" y="3429000"/>
                <a:ext cx="23353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𝑻𝒊𝒎𝒆</m:t>
                    </m:r>
                  </m:oMath>
                </a14:m>
                <a:r>
                  <a:rPr lang="en-US" sz="2000" b="1" dirty="0">
                    <a:latin typeface="Univers Condensed" panose="020B050602020205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&lt;(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b="1" dirty="0">
                  <a:latin typeface="Univers Condensed" panose="020B050602020205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5B387DE-A4B5-B8C0-8584-8ACAFAE843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336" y="3429000"/>
                <a:ext cx="2335365" cy="400110"/>
              </a:xfrm>
              <a:prstGeom prst="rect">
                <a:avLst/>
              </a:prstGeom>
              <a:blipFill>
                <a:blip r:embed="rId7"/>
                <a:stretch>
                  <a:fillRect b="-1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CC42D4-D814-D304-508A-F523BBD277EF}"/>
                  </a:ext>
                </a:extLst>
              </p:cNvPr>
              <p:cNvSpPr txBox="1"/>
              <p:nvPr/>
            </p:nvSpPr>
            <p:spPr>
              <a:xfrm>
                <a:off x="3089255" y="5004032"/>
                <a:ext cx="986232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𝑀𝑎𝑡𝑟𝑖𝑥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1CC42D4-D814-D304-508A-F523BBD27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55" y="5004032"/>
                <a:ext cx="986232" cy="307777"/>
              </a:xfrm>
              <a:prstGeom prst="rect">
                <a:avLst/>
              </a:prstGeom>
              <a:blipFill>
                <a:blip r:embed="rId8"/>
                <a:stretch>
                  <a:fillRect l="-9259" r="-1296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9E050C-B915-5FC6-5232-E187ABB4C269}"/>
                  </a:ext>
                </a:extLst>
              </p:cNvPr>
              <p:cNvSpPr txBox="1"/>
              <p:nvPr/>
            </p:nvSpPr>
            <p:spPr>
              <a:xfrm>
                <a:off x="7119596" y="5025397"/>
                <a:ext cx="113030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𝑉𝑒𝑐𝑡𝑜𝑟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69E050C-B915-5FC6-5232-E187ABB4C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596" y="5025397"/>
                <a:ext cx="1130309" cy="307777"/>
              </a:xfrm>
              <a:prstGeom prst="rect">
                <a:avLst/>
              </a:prstGeom>
              <a:blipFill>
                <a:blip r:embed="rId9"/>
                <a:stretch>
                  <a:fillRect l="-8108" r="-5405"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62D6383-EF84-6D81-DB13-BF554D6FA98F}"/>
              </a:ext>
            </a:extLst>
          </p:cNvPr>
          <p:cNvCxnSpPr>
            <a:cxnSpLocks/>
          </p:cNvCxnSpPr>
          <p:nvPr/>
        </p:nvCxnSpPr>
        <p:spPr>
          <a:xfrm flipV="1">
            <a:off x="4242445" y="4889328"/>
            <a:ext cx="272656" cy="253203"/>
          </a:xfrm>
          <a:prstGeom prst="straightConnector1">
            <a:avLst/>
          </a:prstGeom>
          <a:ln w="19050"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73A3BF-E49B-3674-52B9-FB5674CD2A91}"/>
              </a:ext>
            </a:extLst>
          </p:cNvPr>
          <p:cNvCxnSpPr>
            <a:cxnSpLocks/>
          </p:cNvCxnSpPr>
          <p:nvPr/>
        </p:nvCxnSpPr>
        <p:spPr>
          <a:xfrm>
            <a:off x="6387081" y="4655327"/>
            <a:ext cx="621983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548C457-49AC-4AC4-EC56-552DB82FC6C6}"/>
              </a:ext>
            </a:extLst>
          </p:cNvPr>
          <p:cNvCxnSpPr>
            <a:cxnSpLocks/>
          </p:cNvCxnSpPr>
          <p:nvPr/>
        </p:nvCxnSpPr>
        <p:spPr>
          <a:xfrm>
            <a:off x="6413718" y="5148946"/>
            <a:ext cx="595346" cy="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1AD0204-EF9D-53BE-4C2F-3341B7355B88}"/>
              </a:ext>
            </a:extLst>
          </p:cNvPr>
          <p:cNvCxnSpPr>
            <a:cxnSpLocks/>
          </p:cNvCxnSpPr>
          <p:nvPr/>
        </p:nvCxnSpPr>
        <p:spPr>
          <a:xfrm>
            <a:off x="4508203" y="4879178"/>
            <a:ext cx="352926" cy="5051"/>
          </a:xfrm>
          <a:prstGeom prst="straightConnector1">
            <a:avLst/>
          </a:prstGeom>
          <a:ln w="19050">
            <a:tailEnd type="arrow" w="med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7F56254C-E2E8-1110-545C-CE1E7BD60087}"/>
              </a:ext>
            </a:extLst>
          </p:cNvPr>
          <p:cNvSpPr/>
          <p:nvPr/>
        </p:nvSpPr>
        <p:spPr>
          <a:xfrm>
            <a:off x="4475113" y="4850088"/>
            <a:ext cx="66179" cy="5817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2C258B-6151-ABDE-453F-A7FF5DF96096}"/>
              </a:ext>
            </a:extLst>
          </p:cNvPr>
          <p:cNvSpPr txBox="1"/>
          <p:nvPr/>
        </p:nvSpPr>
        <p:spPr>
          <a:xfrm>
            <a:off x="441245" y="2225720"/>
            <a:ext cx="113095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Univers Condensed" panose="020B0506020202050204" pitchFamily="34" charset="0"/>
              </a:rPr>
              <a:t>Allow multiple workloads to execute on a single sparse streaming accelerator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Univers Condensed" panose="020B0506020202050204" pitchFamily="34" charset="0"/>
              </a:rPr>
              <a:t>Improve the PE underutilization inherit in current data scheduling techniques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E7882E-2A81-5754-867C-9D9D6BF0F02D}"/>
              </a:ext>
            </a:extLst>
          </p:cNvPr>
          <p:cNvSpPr txBox="1"/>
          <p:nvPr/>
        </p:nvSpPr>
        <p:spPr>
          <a:xfrm>
            <a:off x="487273" y="1715826"/>
            <a:ext cx="113095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Univers Condensed" panose="020B0506020202050204" pitchFamily="34" charset="0"/>
              </a:rPr>
              <a:t>The main goal of Procyon is to: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33497C-83B8-F431-D0DB-29F3B241B59C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7752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9E12779-D030-9C13-5A4F-151754BE6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1C872671-AAC9-D5DD-51DE-B91F29E24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Key Insight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3BB0E3-1916-B808-1FC9-9C29E0705AB7}"/>
              </a:ext>
            </a:extLst>
          </p:cNvPr>
          <p:cNvSpPr txBox="1"/>
          <p:nvPr/>
        </p:nvSpPr>
        <p:spPr>
          <a:xfrm>
            <a:off x="2661557" y="2169855"/>
            <a:ext cx="71936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i="1" dirty="0">
                <a:latin typeface="Univers Condensed" panose="020B0506020202050204" pitchFamily="34" charset="0"/>
              </a:rPr>
              <a:t>“If we fuse the PE instructions of multiple workloads into a unified set of instructions, it enables multi-tenant execution of a PE while eliminating PE stalls by filling them with instructions from other workloads.”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225B96-1D69-4387-5803-AD3DA4C2389F}"/>
              </a:ext>
            </a:extLst>
          </p:cNvPr>
          <p:cNvSpPr txBox="1"/>
          <p:nvPr/>
        </p:nvSpPr>
        <p:spPr>
          <a:xfrm>
            <a:off x="11913141" y="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59312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F4164E33-CC5C-6214-0166-C41755672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B9E37B8-BB5B-53D8-57E3-456441ED6C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Procyon Scheduler – Level of Granularity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4F7EA92-6CD6-B510-6BF9-528E6A8D9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873" b="14796"/>
          <a:stretch>
            <a:fillRect/>
          </a:stretch>
        </p:blipFill>
        <p:spPr>
          <a:xfrm>
            <a:off x="846446" y="4384576"/>
            <a:ext cx="4289276" cy="230832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C538870E-2D9D-1B71-2CCD-F51123E4BE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66" r="-430" b="16193"/>
          <a:stretch>
            <a:fillRect/>
          </a:stretch>
        </p:blipFill>
        <p:spPr>
          <a:xfrm>
            <a:off x="7353300" y="4333535"/>
            <a:ext cx="3760596" cy="2333965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0A647B1-E65B-1D63-723E-0EF4F40882C5}"/>
              </a:ext>
            </a:extLst>
          </p:cNvPr>
          <p:cNvSpPr txBox="1"/>
          <p:nvPr/>
        </p:nvSpPr>
        <p:spPr>
          <a:xfrm>
            <a:off x="709804" y="2321661"/>
            <a:ext cx="45625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Accelerator switches between multiple workloads alternatively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Compute and write stages are sequential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 single accelerator is used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400" dirty="0">
              <a:latin typeface="Univers Condensed" panose="020B050602020205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986CBB19-C0A0-67D4-CA6C-35A13B0D2E16}"/>
              </a:ext>
            </a:extLst>
          </p:cNvPr>
          <p:cNvSpPr txBox="1"/>
          <p:nvPr/>
        </p:nvSpPr>
        <p:spPr>
          <a:xfrm>
            <a:off x="873855" y="1833872"/>
            <a:ext cx="4465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Univers Condensed" panose="020B0506020202050204" pitchFamily="34" charset="0"/>
              </a:rPr>
              <a:t>Coarse Grain Multi-Tenancy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A92B217-6E1D-32CB-BA32-698932BB6EAF}"/>
              </a:ext>
            </a:extLst>
          </p:cNvPr>
          <p:cNvSpPr txBox="1"/>
          <p:nvPr/>
        </p:nvSpPr>
        <p:spPr>
          <a:xfrm>
            <a:off x="6989492" y="2347061"/>
            <a:ext cx="45625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Unified compute for multiple workloads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Parallel write operations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 single accelerator is used but with higher PE utilization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5179BD4-7D4C-7A50-25E3-F89350EC809C}"/>
              </a:ext>
            </a:extLst>
          </p:cNvPr>
          <p:cNvSpPr txBox="1"/>
          <p:nvPr/>
        </p:nvSpPr>
        <p:spPr>
          <a:xfrm>
            <a:off x="7049030" y="1834102"/>
            <a:ext cx="4369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Univers Condensed" panose="020B0506020202050204" pitchFamily="34" charset="0"/>
              </a:rPr>
              <a:t>Fine Grain Multi-Tenancy</a:t>
            </a:r>
          </a:p>
        </p:txBody>
      </p: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98B7B88-F0BB-5A31-A5AC-509E640A1993}"/>
              </a:ext>
            </a:extLst>
          </p:cNvPr>
          <p:cNvCxnSpPr>
            <a:cxnSpLocks/>
          </p:cNvCxnSpPr>
          <p:nvPr/>
        </p:nvCxnSpPr>
        <p:spPr>
          <a:xfrm>
            <a:off x="6096000" y="1833872"/>
            <a:ext cx="0" cy="4652653"/>
          </a:xfrm>
          <a:prstGeom prst="line">
            <a:avLst/>
          </a:prstGeom>
          <a:ln w="25400">
            <a:solidFill>
              <a:srgbClr val="98266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D32F36-ACB7-CED4-7FFF-4620C9970CBB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78E640-CFCC-CEB4-928E-6A068946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447" b="14796"/>
          <a:stretch>
            <a:fillRect/>
          </a:stretch>
        </p:blipFill>
        <p:spPr>
          <a:xfrm>
            <a:off x="7071795" y="4333535"/>
            <a:ext cx="281505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33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 build="allAtOnce"/>
      <p:bldP spid="139" grpId="0" build="allAtOnce"/>
      <p:bldP spid="141" grpId="0" build="allAtOnce"/>
      <p:bldP spid="142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FB9FE30-3C51-784C-246B-C39A1EBD5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6A8756F3-3C57-CCFD-8422-DA5C7C614A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Procyon Scheduler – Level of Granularity</a:t>
            </a: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9297DAE5-B714-A281-6D57-47DD5DD94F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873" b="14796"/>
          <a:stretch>
            <a:fillRect/>
          </a:stretch>
        </p:blipFill>
        <p:spPr>
          <a:xfrm>
            <a:off x="846446" y="4384576"/>
            <a:ext cx="4289276" cy="2308324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45FC4B1D-BCF6-05B6-83DB-47603FA20E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266" r="-430" b="16193"/>
          <a:stretch>
            <a:fillRect/>
          </a:stretch>
        </p:blipFill>
        <p:spPr>
          <a:xfrm>
            <a:off x="7353300" y="4333535"/>
            <a:ext cx="3760596" cy="2333965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D231093A-BB28-AE70-5AAE-36AF5E0193D9}"/>
              </a:ext>
            </a:extLst>
          </p:cNvPr>
          <p:cNvSpPr txBox="1"/>
          <p:nvPr/>
        </p:nvSpPr>
        <p:spPr>
          <a:xfrm>
            <a:off x="709804" y="2321661"/>
            <a:ext cx="45625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Accelerator switches between multiple workloads alternatively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Compute and write stages are sequential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 single accelerator is used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400" dirty="0">
              <a:latin typeface="Univers Condensed" panose="020B050602020205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97C4A1D-71E8-9EE8-D538-7AB29B1E6D81}"/>
              </a:ext>
            </a:extLst>
          </p:cNvPr>
          <p:cNvSpPr txBox="1"/>
          <p:nvPr/>
        </p:nvSpPr>
        <p:spPr>
          <a:xfrm>
            <a:off x="873855" y="1833872"/>
            <a:ext cx="44654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Univers Condensed" panose="020B0506020202050204" pitchFamily="34" charset="0"/>
              </a:rPr>
              <a:t>Coarse Grain Multi-Tenancy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6E76C76-13FF-199F-673B-2A0636870392}"/>
              </a:ext>
            </a:extLst>
          </p:cNvPr>
          <p:cNvSpPr txBox="1"/>
          <p:nvPr/>
        </p:nvSpPr>
        <p:spPr>
          <a:xfrm>
            <a:off x="6989492" y="2347061"/>
            <a:ext cx="45625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Unified compute for multiple workloads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Parallel write operations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A single accelerator is used but with higher PE utilization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359175A-C684-F97C-413B-D0B81FA180B3}"/>
              </a:ext>
            </a:extLst>
          </p:cNvPr>
          <p:cNvSpPr txBox="1"/>
          <p:nvPr/>
        </p:nvSpPr>
        <p:spPr>
          <a:xfrm>
            <a:off x="7049030" y="1834102"/>
            <a:ext cx="4369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Univers Condensed" panose="020B0506020202050204" pitchFamily="34" charset="0"/>
              </a:rPr>
              <a:t>Fine Grain Multi-Tenancy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077286F4-E9A4-AB24-094B-49B9796CF6D6}"/>
              </a:ext>
            </a:extLst>
          </p:cNvPr>
          <p:cNvSpPr/>
          <p:nvPr/>
        </p:nvSpPr>
        <p:spPr>
          <a:xfrm>
            <a:off x="6793740" y="1739900"/>
            <a:ext cx="4758308" cy="5022850"/>
          </a:xfrm>
          <a:prstGeom prst="rect">
            <a:avLst/>
          </a:prstGeom>
          <a:noFill/>
          <a:ln w="476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1F96DD7-C06E-0A91-B60A-8745A194DCD1}"/>
              </a:ext>
            </a:extLst>
          </p:cNvPr>
          <p:cNvGrpSpPr/>
          <p:nvPr/>
        </p:nvGrpSpPr>
        <p:grpSpPr>
          <a:xfrm>
            <a:off x="10894921" y="1176745"/>
            <a:ext cx="1314253" cy="1314253"/>
            <a:chOff x="12416302" y="1543843"/>
            <a:chExt cx="1314253" cy="1314253"/>
          </a:xfrm>
        </p:grpSpPr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8CC80C0E-710E-A396-0544-0680B1183147}"/>
                </a:ext>
              </a:extLst>
            </p:cNvPr>
            <p:cNvSpPr/>
            <p:nvPr/>
          </p:nvSpPr>
          <p:spPr>
            <a:xfrm>
              <a:off x="12687665" y="1839947"/>
              <a:ext cx="771525" cy="7220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7" name="Graphic 146" descr="Checkbox Checked with solid fill">
              <a:extLst>
                <a:ext uri="{FF2B5EF4-FFF2-40B4-BE49-F238E27FC236}">
                  <a16:creationId xmlns:a16="http://schemas.microsoft.com/office/drawing/2014/main" id="{9338BA51-65CA-FEEF-D336-29CEB35F32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416302" y="1543843"/>
              <a:ext cx="1314253" cy="1314253"/>
            </a:xfrm>
            <a:prstGeom prst="rect">
              <a:avLst/>
            </a:prstGeom>
          </p:spPr>
        </p:pic>
      </p:grp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B39003-15ED-F913-55EE-D94B197E21DB}"/>
              </a:ext>
            </a:extLst>
          </p:cNvPr>
          <p:cNvCxnSpPr>
            <a:cxnSpLocks/>
          </p:cNvCxnSpPr>
          <p:nvPr/>
        </p:nvCxnSpPr>
        <p:spPr>
          <a:xfrm>
            <a:off x="6096000" y="1833872"/>
            <a:ext cx="0" cy="4652653"/>
          </a:xfrm>
          <a:prstGeom prst="line">
            <a:avLst/>
          </a:prstGeom>
          <a:ln w="25400">
            <a:solidFill>
              <a:srgbClr val="98266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AD34D94-1B3B-EEE0-FA48-3D6235FAB869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586D60-DECE-9E8A-4903-043282C1F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6447" b="14796"/>
          <a:stretch>
            <a:fillRect/>
          </a:stretch>
        </p:blipFill>
        <p:spPr>
          <a:xfrm>
            <a:off x="7071795" y="4333535"/>
            <a:ext cx="281505" cy="2308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8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D759B92F-A0FC-E948-A3DB-3CF756E40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0C179FAC-7EBB-C276-1CBC-A621405CE5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Procyon Scheduler – Mechanism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C8B31-E481-D7EC-9CF2-697DC9C15381}"/>
              </a:ext>
            </a:extLst>
          </p:cNvPr>
          <p:cNvSpPr txBox="1"/>
          <p:nvPr/>
        </p:nvSpPr>
        <p:spPr>
          <a:xfrm>
            <a:off x="169005" y="1543843"/>
            <a:ext cx="1162777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Univers Condensed" panose="020B0506020202050204" pitchFamily="34" charset="0"/>
              </a:rPr>
              <a:t>Key Idea: </a:t>
            </a:r>
            <a:r>
              <a:rPr lang="en-US" sz="2800" dirty="0">
                <a:latin typeface="Univers Condensed" panose="020B0506020202050204" pitchFamily="34" charset="0"/>
              </a:rPr>
              <a:t>To fuse the instructions of a PE from one workload with those of a PE from another workload, making it a multi-tenant PE.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8D46047E-55EB-347F-E662-34B5E1EA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224"/>
          <a:stretch>
            <a:fillRect/>
          </a:stretch>
        </p:blipFill>
        <p:spPr>
          <a:xfrm>
            <a:off x="1662505" y="3095626"/>
            <a:ext cx="9056006" cy="142875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4036977-EF5A-746F-1AAF-D7A41E17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775" b="1792"/>
          <a:stretch>
            <a:fillRect/>
          </a:stretch>
        </p:blipFill>
        <p:spPr>
          <a:xfrm>
            <a:off x="1662505" y="4467226"/>
            <a:ext cx="9056006" cy="17049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AD234A-9A89-8FCE-BBD2-CAE1BBF3D516}"/>
              </a:ext>
            </a:extLst>
          </p:cNvPr>
          <p:cNvSpPr txBox="1"/>
          <p:nvPr/>
        </p:nvSpPr>
        <p:spPr>
          <a:xfrm>
            <a:off x="11860889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524487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8D6A617E-DB04-E619-B06D-D410EC7E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6A7FAC15-915B-D55F-DA0B-70AE341C6D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Procyon Architectural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D5710-0169-DEEC-9FC4-3347D095C7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0" r="67344" b="88367"/>
          <a:stretch>
            <a:fillRect/>
          </a:stretch>
        </p:blipFill>
        <p:spPr>
          <a:xfrm>
            <a:off x="3630705" y="1543844"/>
            <a:ext cx="5351369" cy="5001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141FE7-07B3-8AA4-2A15-1C8F4F89752E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D03A8A-6D6A-D435-B827-981DCED721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2" t="11131" r="67344" b="976"/>
          <a:stretch>
            <a:fillRect/>
          </a:stretch>
        </p:blipFill>
        <p:spPr>
          <a:xfrm>
            <a:off x="3348319" y="2043953"/>
            <a:ext cx="5633755" cy="377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38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CD5E3D02-7474-573B-CBAB-92453CAB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D9B961C8-2000-6DEC-16F9-3A446CAA2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Procyon Architectural Support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14AC4-FBA4-3E0D-64D9-66A608CDFD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89"/>
          <a:stretch>
            <a:fillRect/>
          </a:stretch>
        </p:blipFill>
        <p:spPr>
          <a:xfrm>
            <a:off x="65390" y="2425700"/>
            <a:ext cx="12192000" cy="264552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36A6AA-1997-F102-F452-0A1C689B0B0A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95D52-FA76-2863-7CC1-3B0E82EC9A54}"/>
              </a:ext>
            </a:extLst>
          </p:cNvPr>
          <p:cNvSpPr txBox="1"/>
          <p:nvPr/>
        </p:nvSpPr>
        <p:spPr>
          <a:xfrm>
            <a:off x="278734" y="1902480"/>
            <a:ext cx="4018946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Univers Condensed" panose="020B0506020202050204" pitchFamily="34" charset="0"/>
              </a:rPr>
              <a:t>A general sparse streaming accelerator</a:t>
            </a:r>
            <a:endParaRPr lang="en-US" sz="1800" dirty="0">
              <a:latin typeface="Univers Condensed" panose="020B050602020205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0D84D-A8E1-67D7-C10C-4B70FEC0B0AD}"/>
              </a:ext>
            </a:extLst>
          </p:cNvPr>
          <p:cNvSpPr txBox="1"/>
          <p:nvPr/>
        </p:nvSpPr>
        <p:spPr>
          <a:xfrm>
            <a:off x="5135917" y="1902479"/>
            <a:ext cx="7121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Univers Condensed" panose="020B0506020202050204" pitchFamily="34" charset="0"/>
              </a:rPr>
              <a:t>A Procyon-compatible general sparse streaming accelerator</a:t>
            </a:r>
            <a:endParaRPr lang="en-US" sz="1800" dirty="0">
              <a:latin typeface="Univers Condensed" panose="020B05060202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860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30481670-9079-B34D-F59D-5E1B7C187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056F66CB-9B3B-FA4F-70E6-559B8EF50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1158" y="3174380"/>
            <a:ext cx="4725042" cy="1973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indent="0"/>
            <a:r>
              <a:rPr lang="en-US" sz="4800" dirty="0">
                <a:latin typeface="Univers Condensed" panose="020B0506020202050204" pitchFamily="34" charset="0"/>
              </a:rPr>
              <a:t>KEY RESULTS</a:t>
            </a:r>
          </a:p>
        </p:txBody>
      </p:sp>
    </p:spTree>
    <p:extLst>
      <p:ext uri="{BB962C8B-B14F-4D97-AF65-F5344CB8AC3E}">
        <p14:creationId xmlns:p14="http://schemas.microsoft.com/office/powerpoint/2010/main" val="1147727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E645DC8F-F37C-2878-D50A-2D7ED451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8E4E6783-7E8F-ADEE-940F-D172BC92D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PE Underutilization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3EA211-CC0A-8CD4-6407-6210AC3F8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161"/>
          <a:stretch>
            <a:fillRect/>
          </a:stretch>
        </p:blipFill>
        <p:spPr>
          <a:xfrm>
            <a:off x="2336194" y="2464648"/>
            <a:ext cx="7519612" cy="35623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58095D-62FA-1BD0-269F-DCA2A19FFC69}"/>
              </a:ext>
            </a:extLst>
          </p:cNvPr>
          <p:cNvSpPr txBox="1"/>
          <p:nvPr/>
        </p:nvSpPr>
        <p:spPr>
          <a:xfrm>
            <a:off x="277723" y="1543843"/>
            <a:ext cx="115190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Procyon compatible baselines achieves lower PE underutilization under all PE pairing schemes as multiple workloads are being executed on each PE.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CA32B-FF0D-A905-B58B-3819B0B2EE41}"/>
              </a:ext>
            </a:extLst>
          </p:cNvPr>
          <p:cNvSpPr txBox="1"/>
          <p:nvPr/>
        </p:nvSpPr>
        <p:spPr>
          <a:xfrm>
            <a:off x="1943849" y="6027003"/>
            <a:ext cx="86520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Univers Condensed" panose="020B0506020202050204" pitchFamily="34" charset="0"/>
              </a:rPr>
              <a:t>PE underutilization % of Serpens and Chason with and without Procyon on SuiteSparse Workloads (lower is better)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5D1FDA-258A-116A-4BC3-0672326FEF0B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28071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79300867-9031-90DE-3564-878F607A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E3D05C2-3D18-8430-A9BB-C91392B77C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Speedup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AFE5-481A-819F-96C0-87821C25E6C2}"/>
              </a:ext>
            </a:extLst>
          </p:cNvPr>
          <p:cNvSpPr txBox="1"/>
          <p:nvPr/>
        </p:nvSpPr>
        <p:spPr>
          <a:xfrm>
            <a:off x="277723" y="1543843"/>
            <a:ext cx="116247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The lower PE underutilization as well as multi-tenancy results in speedup over sequential execution of the workloads on baselines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48AF0C-FAAB-0F3A-5D0D-4B2C6399EEE0}"/>
              </a:ext>
            </a:extLst>
          </p:cNvPr>
          <p:cNvSpPr txBox="1"/>
          <p:nvPr/>
        </p:nvSpPr>
        <p:spPr>
          <a:xfrm>
            <a:off x="2686855" y="5912703"/>
            <a:ext cx="68064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Univers Condensed" panose="020B0506020202050204" pitchFamily="34" charset="0"/>
              </a:rPr>
              <a:t>Latency speedup of Procyon vs. Serpens and Chason on SuiteSparse workloads groups (higher is better)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9C69B-410B-5203-4186-0EA10C0F2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9144"/>
          <a:stretch>
            <a:fillRect/>
          </a:stretch>
        </p:blipFill>
        <p:spPr>
          <a:xfrm>
            <a:off x="2562012" y="2469600"/>
            <a:ext cx="6700536" cy="34431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ED2DC-0FA7-AEA2-4CF5-D733846FBB4F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9007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02C5BB01-BFF9-C775-9CE5-DBFBFF698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6EEEFFEC-0645-9C96-C529-AE0A8443D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Throughput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B7A02-6457-9645-1D8F-818B0534204B}"/>
              </a:ext>
            </a:extLst>
          </p:cNvPr>
          <p:cNvSpPr txBox="1"/>
          <p:nvPr/>
        </p:nvSpPr>
        <p:spPr>
          <a:xfrm>
            <a:off x="277723" y="1543843"/>
            <a:ext cx="11624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Univers Condensed" panose="020B0506020202050204" pitchFamily="34" charset="0"/>
              </a:rPr>
              <a:t>Procyon compatible baselines achieves higher throughput due to increased activity of PEs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F8187-3886-8B22-F898-A017F60BAE31}"/>
              </a:ext>
            </a:extLst>
          </p:cNvPr>
          <p:cNvSpPr txBox="1"/>
          <p:nvPr/>
        </p:nvSpPr>
        <p:spPr>
          <a:xfrm>
            <a:off x="1943849" y="6027003"/>
            <a:ext cx="86520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Univers Condensed" panose="020B0506020202050204" pitchFamily="34" charset="0"/>
              </a:rPr>
              <a:t>Throughout of Serpens and Chason with and without Procyon on SuiteSparse Workloads (higher is better)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7A53B-606D-AB2C-F667-088837DB19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359"/>
          <a:stretch>
            <a:fillRect/>
          </a:stretch>
        </p:blipFill>
        <p:spPr>
          <a:xfrm>
            <a:off x="2471651" y="2233175"/>
            <a:ext cx="723686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232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>
          <a:extLst>
            <a:ext uri="{FF2B5EF4-FFF2-40B4-BE49-F238E27FC236}">
              <a16:creationId xmlns:a16="http://schemas.microsoft.com/office/drawing/2014/main" id="{D3AB4BB8-20AA-6832-DA81-F9FE9E36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7ED68B4E-41FC-BC6B-099D-344680632B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0700" y="218280"/>
            <a:ext cx="1000607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dirty="0">
                <a:latin typeface="Univers Condensed" panose="020B0506020202050204" pitchFamily="34" charset="0"/>
              </a:rPr>
              <a:t>Conclusions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FDE78A-09FD-C783-5545-8DEC59C974E8}"/>
              </a:ext>
            </a:extLst>
          </p:cNvPr>
          <p:cNvSpPr txBox="1"/>
          <p:nvPr/>
        </p:nvSpPr>
        <p:spPr>
          <a:xfrm>
            <a:off x="1325052" y="1563880"/>
            <a:ext cx="99488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Sparsity is a prevalent topic in scientific computing as well as generative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Sparse streaming accelerators have shown strong performance gains</a:t>
            </a:r>
            <a:endParaRPr lang="en-US" sz="2400" dirty="0">
              <a:latin typeface="Univers Condensed" panose="020B0506020202050204" pitchFamily="34" charset="0"/>
              <a:ea typeface="Hiragino Kaku Gothic Std W8" panose="020B0800000000000000" pitchFamily="34" charset="-128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0B3E6-47A4-BB01-61BA-3327785DEA72}"/>
              </a:ext>
            </a:extLst>
          </p:cNvPr>
          <p:cNvSpPr txBox="1"/>
          <p:nvPr/>
        </p:nvSpPr>
        <p:spPr>
          <a:xfrm>
            <a:off x="1325052" y="5505080"/>
            <a:ext cx="103175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Procyon compatible streaming accelerators  achieves substantial improvement in  PE underutilization, performance and system’s monetary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301A8-7991-003E-63D7-D2A744AA1A75}"/>
              </a:ext>
            </a:extLst>
          </p:cNvPr>
          <p:cNvSpPr txBox="1"/>
          <p:nvPr/>
        </p:nvSpPr>
        <p:spPr>
          <a:xfrm>
            <a:off x="1338321" y="2577387"/>
            <a:ext cx="10304329" cy="1200329"/>
          </a:xfrm>
          <a:prstGeom prst="rect">
            <a:avLst/>
          </a:prstGeom>
          <a:solidFill>
            <a:schemeClr val="lt1"/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Existing sparse streaming accelerators are highly underutilized as well as follow a single workload execution model </a:t>
            </a:r>
            <a:r>
              <a:rPr lang="en-US" sz="2400" b="1" dirty="0">
                <a:solidFill>
                  <a:srgbClr val="00B050"/>
                </a:solidFill>
                <a:latin typeface="Univers Condensed" panose="020B0506020202050204" pitchFamily="34" charset="0"/>
                <a:sym typeface="Wingdings" panose="05000000000000000000" pitchFamily="2" charset="2"/>
              </a:rPr>
              <a:t></a:t>
            </a:r>
            <a:r>
              <a:rPr lang="en-US" sz="2400" dirty="0">
                <a:latin typeface="Univers Condensed" panose="020B0506020202050204" pitchFamily="34" charset="0"/>
              </a:rPr>
              <a:t> sub-optimal performance and increased system cost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E10DF-044C-5A7F-1868-D56790BA6F89}"/>
              </a:ext>
            </a:extLst>
          </p:cNvPr>
          <p:cNvSpPr txBox="1"/>
          <p:nvPr/>
        </p:nvSpPr>
        <p:spPr>
          <a:xfrm>
            <a:off x="1338322" y="3859220"/>
            <a:ext cx="1021926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We propose Procyon to fuse the instructions of multiple workloads and execute them on a single sparse streaming accelerator concurrently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Univers Condensed" panose="020B0506020202050204" pitchFamily="34" charset="0"/>
              </a:rPr>
              <a:t>To support Procyon, we showed the architectural extension for a streaming accelerator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F900E31-BEBD-917A-E641-FB4AD6A5C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2" t="11171" r="12749" b="13474"/>
          <a:stretch>
            <a:fillRect/>
          </a:stretch>
        </p:blipFill>
        <p:spPr>
          <a:xfrm>
            <a:off x="425123" y="5457744"/>
            <a:ext cx="841108" cy="85261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3B67932-4015-C54F-F54B-B800CE79B0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25" t="7407" r="8334" b="8519"/>
          <a:stretch>
            <a:fillRect/>
          </a:stretch>
        </p:blipFill>
        <p:spPr>
          <a:xfrm>
            <a:off x="443304" y="2793981"/>
            <a:ext cx="799832" cy="8328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3B4AB54-AA32-9108-407A-BFE21EC08E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022" t="1827" r="8845" b="3183"/>
          <a:stretch>
            <a:fillRect/>
          </a:stretch>
        </p:blipFill>
        <p:spPr>
          <a:xfrm>
            <a:off x="515777" y="1543843"/>
            <a:ext cx="713551" cy="9491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1A8568-1C0D-4C7A-1C54-4671281A78BE}"/>
              </a:ext>
            </a:extLst>
          </p:cNvPr>
          <p:cNvSpPr txBox="1"/>
          <p:nvPr/>
        </p:nvSpPr>
        <p:spPr>
          <a:xfrm>
            <a:off x="11873952" y="0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164E2A2-961A-1570-8667-02758E6FE5C0}"/>
              </a:ext>
            </a:extLst>
          </p:cNvPr>
          <p:cNvGrpSpPr/>
          <p:nvPr/>
        </p:nvGrpSpPr>
        <p:grpSpPr>
          <a:xfrm>
            <a:off x="251067" y="4015239"/>
            <a:ext cx="862149" cy="1105924"/>
            <a:chOff x="251067" y="4015239"/>
            <a:chExt cx="862149" cy="110592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77D6FAE-5886-8B22-0170-C455D2A4BCAD}"/>
                </a:ext>
              </a:extLst>
            </p:cNvPr>
            <p:cNvGrpSpPr/>
            <p:nvPr/>
          </p:nvGrpSpPr>
          <p:grpSpPr>
            <a:xfrm>
              <a:off x="251067" y="4015239"/>
              <a:ext cx="862149" cy="1105924"/>
              <a:chOff x="251067" y="4015239"/>
              <a:chExt cx="862149" cy="110592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8394CDD-E155-3DA0-A1F8-F4228A0CB8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0414" t="37344" r="2189" b="36185"/>
              <a:stretch>
                <a:fillRect/>
              </a:stretch>
            </p:blipFill>
            <p:spPr>
              <a:xfrm rot="18853813">
                <a:off x="254960" y="4210113"/>
                <a:ext cx="1053129" cy="663382"/>
              </a:xfrm>
              <a:prstGeom prst="rect">
                <a:avLst/>
              </a:prstGeom>
            </p:spPr>
          </p:pic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D79A20B-AAFE-AF27-D208-20A43236EEE4}"/>
                  </a:ext>
                </a:extLst>
              </p:cNvPr>
              <p:cNvSpPr/>
              <p:nvPr/>
            </p:nvSpPr>
            <p:spPr>
              <a:xfrm rot="2648910">
                <a:off x="251067" y="4820343"/>
                <a:ext cx="234347" cy="3008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D90CB7-8A0B-00B6-A85C-6A87A8D5069A}"/>
                </a:ext>
              </a:extLst>
            </p:cNvPr>
            <p:cNvSpPr txBox="1"/>
            <p:nvPr/>
          </p:nvSpPr>
          <p:spPr>
            <a:xfrm rot="18783340">
              <a:off x="590423" y="4210090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chemeClr val="bg1">
                      <a:lumMod val="85000"/>
                    </a:schemeClr>
                  </a:solidFill>
                </a:rPr>
                <a:t>FPGA</a:t>
              </a:r>
              <a:endParaRPr lang="en-US" b="1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356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11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D6D8"/>
        </a:solidFill>
        <a:effectLst/>
      </p:bgPr>
    </p:bg>
    <p:spTree>
      <p:nvGrpSpPr>
        <p:cNvPr id="1" name="Shape 89">
          <a:extLst>
            <a:ext uri="{FF2B5EF4-FFF2-40B4-BE49-F238E27FC236}">
              <a16:creationId xmlns:a16="http://schemas.microsoft.com/office/drawing/2014/main" id="{445ACC97-3D3B-F687-B0ED-794EB3C8A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90F2AD-0CF3-076F-49B7-E5A5E98B2861}"/>
              </a:ext>
            </a:extLst>
          </p:cNvPr>
          <p:cNvSpPr/>
          <p:nvPr/>
        </p:nvSpPr>
        <p:spPr>
          <a:xfrm>
            <a:off x="-1" y="4960620"/>
            <a:ext cx="12192001" cy="1586914"/>
          </a:xfrm>
          <a:prstGeom prst="rect">
            <a:avLst/>
          </a:prstGeom>
          <a:solidFill>
            <a:srgbClr val="D5D6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50D71-6B18-AEB3-885D-E43EFB1DDE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292"/>
          <a:stretch>
            <a:fillRect/>
          </a:stretch>
        </p:blipFill>
        <p:spPr>
          <a:xfrm>
            <a:off x="6181140" y="1769949"/>
            <a:ext cx="2463800" cy="2425471"/>
          </a:xfrm>
          <a:prstGeom prst="flowChartConnector">
            <a:avLst/>
          </a:prstGeom>
        </p:spPr>
      </p:pic>
      <p:sp>
        <p:nvSpPr>
          <p:cNvPr id="5" name="Google Shape;127;p6">
            <a:extLst>
              <a:ext uri="{FF2B5EF4-FFF2-40B4-BE49-F238E27FC236}">
                <a16:creationId xmlns:a16="http://schemas.microsoft.com/office/drawing/2014/main" id="{17B20FD5-A239-81D8-4356-213549250811}"/>
              </a:ext>
            </a:extLst>
          </p:cNvPr>
          <p:cNvSpPr txBox="1">
            <a:spLocks/>
          </p:cNvSpPr>
          <p:nvPr/>
        </p:nvSpPr>
        <p:spPr>
          <a:xfrm>
            <a:off x="8644939" y="1966459"/>
            <a:ext cx="3795151" cy="178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buClr>
                <a:schemeClr val="dk1"/>
              </a:buClr>
              <a:buSzPts val="4000"/>
            </a:pPr>
            <a:r>
              <a:rPr lang="en-US" sz="3000" dirty="0"/>
              <a:t>Speaker: </a:t>
            </a:r>
          </a:p>
          <a:p>
            <a:pPr algn="l">
              <a:buClr>
                <a:schemeClr val="dk1"/>
              </a:buClr>
              <a:buSzPts val="4000"/>
            </a:pPr>
            <a:r>
              <a:rPr lang="en-US" sz="3200" b="0" dirty="0"/>
              <a:t>Ubaid Bakhtiar</a:t>
            </a:r>
          </a:p>
          <a:p>
            <a:pPr algn="l">
              <a:buClr>
                <a:schemeClr val="dk1"/>
              </a:buClr>
              <a:buSzPts val="4000"/>
            </a:pPr>
            <a:r>
              <a:rPr lang="en-US" sz="2000" b="0" dirty="0"/>
              <a:t>5</a:t>
            </a:r>
            <a:r>
              <a:rPr lang="en-US" sz="2000" b="0" baseline="30000" dirty="0"/>
              <a:t>th</a:t>
            </a:r>
            <a:r>
              <a:rPr lang="en-US" sz="2000" b="0" dirty="0"/>
              <a:t> Year ECE Ph.D. Candidate</a:t>
            </a:r>
          </a:p>
          <a:p>
            <a:pPr algn="l">
              <a:buClr>
                <a:schemeClr val="dk1"/>
              </a:buClr>
              <a:buSzPts val="4000"/>
            </a:pPr>
            <a:r>
              <a:rPr lang="en-US" sz="2000" b="0" dirty="0"/>
              <a:t>ubaidb@umd.edu </a:t>
            </a:r>
          </a:p>
        </p:txBody>
      </p:sp>
      <p:sp>
        <p:nvSpPr>
          <p:cNvPr id="7" name="Google Shape;101;p3">
            <a:extLst>
              <a:ext uri="{FF2B5EF4-FFF2-40B4-BE49-F238E27FC236}">
                <a16:creationId xmlns:a16="http://schemas.microsoft.com/office/drawing/2014/main" id="{DE8B238D-4339-182F-5FBB-E7B0AB24C2D6}"/>
              </a:ext>
            </a:extLst>
          </p:cNvPr>
          <p:cNvSpPr txBox="1">
            <a:spLocks/>
          </p:cNvSpPr>
          <p:nvPr/>
        </p:nvSpPr>
        <p:spPr>
          <a:xfrm>
            <a:off x="-439075" y="2510971"/>
            <a:ext cx="5489347" cy="918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4400" dirty="0">
                <a:solidFill>
                  <a:schemeClr val="bg1"/>
                </a:solidFill>
                <a:latin typeface="Univers Condensed" panose="020B0506020202050204" pitchFamily="34" charset="0"/>
              </a:rPr>
              <a:t>THANK YOU !!!</a:t>
            </a:r>
            <a:endParaRPr lang="en-US" sz="4400" i="1" dirty="0">
              <a:solidFill>
                <a:schemeClr val="bg1"/>
              </a:solidFill>
              <a:latin typeface="Univers Condensed" panose="020B0506020202050204" pitchFamily="34" charset="0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527C4E40-AF07-BB0B-9EF4-386E27E5A4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378" y="5324097"/>
            <a:ext cx="5090101" cy="85995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D369715-F431-7291-3C34-926E47377CB1}"/>
              </a:ext>
            </a:extLst>
          </p:cNvPr>
          <p:cNvGrpSpPr/>
          <p:nvPr/>
        </p:nvGrpSpPr>
        <p:grpSpPr>
          <a:xfrm>
            <a:off x="-198003" y="4972231"/>
            <a:ext cx="4305300" cy="1649305"/>
            <a:chOff x="788392" y="3591137"/>
            <a:chExt cx="4305300" cy="1649305"/>
          </a:xfrm>
        </p:grpSpPr>
        <p:pic>
          <p:nvPicPr>
            <p:cNvPr id="10" name="Picture 9" descr="A sand castle with a flag on top&#10;&#10;Description automatically generated">
              <a:extLst>
                <a:ext uri="{FF2B5EF4-FFF2-40B4-BE49-F238E27FC236}">
                  <a16:creationId xmlns:a16="http://schemas.microsoft.com/office/drawing/2014/main" id="{06D1E0B5-2D50-832D-DBEA-C72071313C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5700"/>
            <a:stretch>
              <a:fillRect/>
            </a:stretch>
          </p:blipFill>
          <p:spPr>
            <a:xfrm>
              <a:off x="1682525" y="3591137"/>
              <a:ext cx="2517034" cy="140199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F721A2-2A3D-E644-A4AD-83F2478F2290}"/>
                </a:ext>
              </a:extLst>
            </p:cNvPr>
            <p:cNvSpPr txBox="1"/>
            <p:nvPr/>
          </p:nvSpPr>
          <p:spPr>
            <a:xfrm>
              <a:off x="788392" y="4871110"/>
              <a:ext cx="43053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i="1" u="none" strike="noStrike" dirty="0">
                  <a:solidFill>
                    <a:srgbClr val="000000"/>
                  </a:solidFill>
                  <a:effectLst/>
                  <a:latin typeface="Trebuchet MS" panose="020B0703020202090204" pitchFamily="34" charset="0"/>
                  <a:cs typeface="Times New Roman" panose="02020603050405020304" pitchFamily="18" charset="0"/>
                </a:rPr>
                <a:t>Computer Architecture &amp; Systems Lab</a:t>
              </a:r>
            </a:p>
          </p:txBody>
        </p:sp>
      </p:grpSp>
      <p:pic>
        <p:nvPicPr>
          <p:cNvPr id="13" name="Graphic 12">
            <a:extLst>
              <a:ext uri="{FF2B5EF4-FFF2-40B4-BE49-F238E27FC236}">
                <a16:creationId xmlns:a16="http://schemas.microsoft.com/office/drawing/2014/main" id="{D0EAF393-A670-A600-D7B1-4EA2D2ADF9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7256" y="5025949"/>
            <a:ext cx="1426796" cy="142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74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FBD7E7"/>
      </a:accent1>
      <a:accent2>
        <a:srgbClr val="E97132"/>
      </a:accent2>
      <a:accent3>
        <a:srgbClr val="C1D830"/>
      </a:accent3>
      <a:accent4>
        <a:srgbClr val="492354"/>
      </a:accent4>
      <a:accent5>
        <a:srgbClr val="1A2051"/>
      </a:accent5>
      <a:accent6>
        <a:srgbClr val="4EA72E"/>
      </a:accent6>
      <a:hlink>
        <a:srgbClr val="F37837"/>
      </a:hlink>
      <a:folHlink>
        <a:srgbClr val="A93A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A42A4A0B7BB94E8CE56AAE5F8CFB3B" ma:contentTypeVersion="9" ma:contentTypeDescription="Create a new document." ma:contentTypeScope="" ma:versionID="4c27d3603c3836e59178380104c76bc9">
  <xsd:schema xmlns:xsd="http://www.w3.org/2001/XMLSchema" xmlns:xs="http://www.w3.org/2001/XMLSchema" xmlns:p="http://schemas.microsoft.com/office/2006/metadata/properties" xmlns:ns3="abc2aec0-41ee-42dc-814b-7cc6f4464b45" xmlns:ns4="7915e00e-f250-44e3-a0bd-373b51e0dbd1" targetNamespace="http://schemas.microsoft.com/office/2006/metadata/properties" ma:root="true" ma:fieldsID="2369f9e62acc1ac3bc0a2ffee80c1bd8" ns3:_="" ns4:_="">
    <xsd:import namespace="abc2aec0-41ee-42dc-814b-7cc6f4464b45"/>
    <xsd:import namespace="7915e00e-f250-44e3-a0bd-373b51e0dbd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c2aec0-41ee-42dc-814b-7cc6f4464b4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5e00e-f250-44e3-a0bd-373b51e0dbd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bc2aec0-41ee-42dc-814b-7cc6f4464b45" xsi:nil="true"/>
  </documentManagement>
</p:properties>
</file>

<file path=customXml/itemProps1.xml><?xml version="1.0" encoding="utf-8"?>
<ds:datastoreItem xmlns:ds="http://schemas.openxmlformats.org/officeDocument/2006/customXml" ds:itemID="{DE2F8C8F-0D88-4CAF-ADF5-CF480266EB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F6A396-5C06-4003-9CB1-D2082F4806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bc2aec0-41ee-42dc-814b-7cc6f4464b45"/>
    <ds:schemaRef ds:uri="7915e00e-f250-44e3-a0bd-373b51e0db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DF887F-F6ED-4D5E-915D-FBFE26F19BF7}">
  <ds:schemaRefs>
    <ds:schemaRef ds:uri="http://schemas.microsoft.com/office/infopath/2007/PartnerControls"/>
    <ds:schemaRef ds:uri="http://schemas.openxmlformats.org/package/2006/metadata/core-properties"/>
    <ds:schemaRef ds:uri="abc2aec0-41ee-42dc-814b-7cc6f4464b45"/>
    <ds:schemaRef ds:uri="http://schemas.microsoft.com/office/2006/documentManagement/types"/>
    <ds:schemaRef ds:uri="http://purl.org/dc/dcmitype/"/>
    <ds:schemaRef ds:uri="http://purl.org/dc/elements/1.1/"/>
    <ds:schemaRef ds:uri="http://purl.org/dc/terms/"/>
    <ds:schemaRef ds:uri="http://schemas.microsoft.com/office/2006/metadata/properties"/>
    <ds:schemaRef ds:uri="7915e00e-f250-44e3-a0bd-373b51e0dbd1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948</Words>
  <Application>Microsoft Macintosh PowerPoint</Application>
  <PresentationFormat>Widescreen</PresentationFormat>
  <Paragraphs>192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Cambria Math</vt:lpstr>
      <vt:lpstr>Consolas</vt:lpstr>
      <vt:lpstr>Trebuchet MS</vt:lpstr>
      <vt:lpstr>Univers Condensed</vt:lpstr>
      <vt:lpstr>Wingdings</vt:lpstr>
      <vt:lpstr>Office Theme</vt:lpstr>
      <vt:lpstr>Procyon: Promoting Fine-Grain Multi-Tenancy to Optimize Sparse Streaming Accelerators</vt:lpstr>
      <vt:lpstr>Existence of Sparsity</vt:lpstr>
      <vt:lpstr>Streaming Accelerators </vt:lpstr>
      <vt:lpstr>CHALLENGES</vt:lpstr>
      <vt:lpstr>Poor Data Scheduling</vt:lpstr>
      <vt:lpstr>Poor Data Scheduling</vt:lpstr>
      <vt:lpstr>Poor Data Scheduling</vt:lpstr>
      <vt:lpstr>Poor Data Scheduling</vt:lpstr>
      <vt:lpstr>Single Workload Execution Model</vt:lpstr>
      <vt:lpstr>OUR WORK</vt:lpstr>
      <vt:lpstr>Main Goal</vt:lpstr>
      <vt:lpstr>Key Insight</vt:lpstr>
      <vt:lpstr>Procyon Scheduler – Level of Granularity</vt:lpstr>
      <vt:lpstr>Procyon Scheduler – Level of Granularity</vt:lpstr>
      <vt:lpstr>Procyon Scheduler – Mechanism</vt:lpstr>
      <vt:lpstr>Procyon Architectural Support</vt:lpstr>
      <vt:lpstr>Procyon Architectural Support</vt:lpstr>
      <vt:lpstr>KEY RESULTS</vt:lpstr>
      <vt:lpstr>PE Underutilization</vt:lpstr>
      <vt:lpstr>Speedup</vt:lpstr>
      <vt:lpstr>Throughput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Ben Rossell</dc:creator>
  <cp:lastModifiedBy>Ubaid Bakhtiar</cp:lastModifiedBy>
  <cp:revision>11</cp:revision>
  <dcterms:created xsi:type="dcterms:W3CDTF">2024-09-11T13:48:27Z</dcterms:created>
  <dcterms:modified xsi:type="dcterms:W3CDTF">2026-08-12T04:59:52Z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0x01010039A42A4A0B7BB94E8CE56AAE5F8CFB3B</vt:lpwstr>
  </property>
</Properties>
</file>